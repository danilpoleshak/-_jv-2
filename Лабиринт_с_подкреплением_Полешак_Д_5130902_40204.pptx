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3716000" cy="7715250"/>
  <p:notesSz cx="13716000" cy="771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8700" y="2391727"/>
            <a:ext cx="11658600" cy="1620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4F2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57400" y="4320540"/>
            <a:ext cx="9601200" cy="1928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9CB6AA"/>
                </a:solidFill>
              </a:rPr>
              <a:t>JAVA</a:t>
            </a:r>
            <a:r>
              <a:rPr spc="275" dirty="0">
                <a:solidFill>
                  <a:srgbClr val="9CB6AA"/>
                </a:solidFill>
              </a:rPr>
              <a:t> </a:t>
            </a:r>
            <a:r>
              <a:rPr dirty="0">
                <a:solidFill>
                  <a:srgbClr val="9CB6AA"/>
                </a:solidFill>
              </a:rPr>
              <a:t>/</a:t>
            </a:r>
            <a:r>
              <a:rPr spc="280" dirty="0">
                <a:solidFill>
                  <a:srgbClr val="9CB6AA"/>
                </a:solidFill>
              </a:rPr>
              <a:t> </a:t>
            </a: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‹#›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4F2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9CB6AA"/>
                </a:solidFill>
              </a:rPr>
              <a:t>JAVA</a:t>
            </a:r>
            <a:r>
              <a:rPr spc="275" dirty="0">
                <a:solidFill>
                  <a:srgbClr val="9CB6AA"/>
                </a:solidFill>
              </a:rPr>
              <a:t> </a:t>
            </a:r>
            <a:r>
              <a:rPr dirty="0">
                <a:solidFill>
                  <a:srgbClr val="9CB6AA"/>
                </a:solidFill>
              </a:rPr>
              <a:t>/</a:t>
            </a:r>
            <a:r>
              <a:rPr spc="280" dirty="0">
                <a:solidFill>
                  <a:srgbClr val="9CB6AA"/>
                </a:solidFill>
              </a:rPr>
              <a:t> </a:t>
            </a: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‹#›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4F2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5800" y="1774507"/>
            <a:ext cx="5966460" cy="509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63740" y="1774507"/>
            <a:ext cx="5966460" cy="509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9CB6AA"/>
                </a:solidFill>
              </a:rPr>
              <a:t>JAVA</a:t>
            </a:r>
            <a:r>
              <a:rPr spc="275" dirty="0">
                <a:solidFill>
                  <a:srgbClr val="9CB6AA"/>
                </a:solidFill>
              </a:rPr>
              <a:t> </a:t>
            </a:r>
            <a:r>
              <a:rPr dirty="0">
                <a:solidFill>
                  <a:srgbClr val="9CB6AA"/>
                </a:solidFill>
              </a:rPr>
              <a:t>/</a:t>
            </a:r>
            <a:r>
              <a:rPr spc="280" dirty="0">
                <a:solidFill>
                  <a:srgbClr val="9CB6AA"/>
                </a:solidFill>
              </a:rPr>
              <a:t> </a:t>
            </a: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‹#›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4F2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9CB6AA"/>
                </a:solidFill>
              </a:rPr>
              <a:t>JAVA</a:t>
            </a:r>
            <a:r>
              <a:rPr spc="275" dirty="0">
                <a:solidFill>
                  <a:srgbClr val="9CB6AA"/>
                </a:solidFill>
              </a:rPr>
              <a:t> </a:t>
            </a:r>
            <a:r>
              <a:rPr dirty="0">
                <a:solidFill>
                  <a:srgbClr val="9CB6AA"/>
                </a:solidFill>
              </a:rPr>
              <a:t>/</a:t>
            </a:r>
            <a:r>
              <a:rPr spc="280" dirty="0">
                <a:solidFill>
                  <a:srgbClr val="9CB6AA"/>
                </a:solidFill>
              </a:rPr>
              <a:t> </a:t>
            </a: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‹#›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9CB6AA"/>
                </a:solidFill>
              </a:rPr>
              <a:t>JAVA</a:t>
            </a:r>
            <a:r>
              <a:rPr spc="275" dirty="0">
                <a:solidFill>
                  <a:srgbClr val="9CB6AA"/>
                </a:solidFill>
              </a:rPr>
              <a:t> </a:t>
            </a:r>
            <a:r>
              <a:rPr dirty="0">
                <a:solidFill>
                  <a:srgbClr val="9CB6AA"/>
                </a:solidFill>
              </a:rPr>
              <a:t>/</a:t>
            </a:r>
            <a:r>
              <a:rPr spc="280" dirty="0">
                <a:solidFill>
                  <a:srgbClr val="9CB6AA"/>
                </a:solidFill>
              </a:rPr>
              <a:t> </a:t>
            </a: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‹#›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716000" cy="7715250"/>
          </a:xfrm>
          <a:custGeom>
            <a:avLst/>
            <a:gdLst/>
            <a:ahLst/>
            <a:cxnLst/>
            <a:rect l="l" t="t" r="r" b="b"/>
            <a:pathLst>
              <a:path w="13716000" h="7715250">
                <a:moveTo>
                  <a:pt x="0" y="7715250"/>
                </a:moveTo>
                <a:lnTo>
                  <a:pt x="13716000" y="7715250"/>
                </a:lnTo>
                <a:lnTo>
                  <a:pt x="13716000" y="0"/>
                </a:lnTo>
                <a:lnTo>
                  <a:pt x="0" y="0"/>
                </a:lnTo>
                <a:lnTo>
                  <a:pt x="0" y="7715250"/>
                </a:lnTo>
                <a:close/>
              </a:path>
            </a:pathLst>
          </a:custGeom>
          <a:solidFill>
            <a:srgbClr val="F4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100" y="1035050"/>
            <a:ext cx="10154285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4F2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750" y="2780481"/>
            <a:ext cx="12617450" cy="308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9CB6AA"/>
                </a:solidFill>
              </a:rPr>
              <a:t>JAVA</a:t>
            </a:r>
            <a:r>
              <a:rPr spc="275" dirty="0">
                <a:solidFill>
                  <a:srgbClr val="9CB6AA"/>
                </a:solidFill>
              </a:rPr>
              <a:t> </a:t>
            </a:r>
            <a:r>
              <a:rPr dirty="0">
                <a:solidFill>
                  <a:srgbClr val="9CB6AA"/>
                </a:solidFill>
              </a:rPr>
              <a:t>/</a:t>
            </a:r>
            <a:r>
              <a:rPr spc="280" dirty="0">
                <a:solidFill>
                  <a:srgbClr val="9CB6AA"/>
                </a:solidFill>
              </a:rPr>
              <a:t> </a:t>
            </a: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5800" y="7175182"/>
            <a:ext cx="3154680" cy="385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44400" y="7279865"/>
            <a:ext cx="637540" cy="173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97772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‹#›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716000" cy="7715250"/>
          </a:xfrm>
          <a:custGeom>
            <a:avLst/>
            <a:gdLst/>
            <a:ahLst/>
            <a:cxnLst/>
            <a:rect l="l" t="t" r="r" b="b"/>
            <a:pathLst>
              <a:path w="13716000" h="7715250">
                <a:moveTo>
                  <a:pt x="0" y="7715250"/>
                </a:moveTo>
                <a:lnTo>
                  <a:pt x="13716000" y="7715250"/>
                </a:lnTo>
                <a:lnTo>
                  <a:pt x="13716000" y="0"/>
                </a:lnTo>
                <a:lnTo>
                  <a:pt x="0" y="0"/>
                </a:lnTo>
                <a:lnTo>
                  <a:pt x="0" y="771525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6100" y="372115"/>
            <a:ext cx="16389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0" dirty="0">
                <a:solidFill>
                  <a:srgbClr val="9CB6AA"/>
                </a:solidFill>
                <a:latin typeface="Trebuchet MS"/>
                <a:cs typeface="Trebuchet MS"/>
              </a:rPr>
              <a:t>ЛАБОРАТОРНАЯ</a:t>
            </a:r>
            <a:r>
              <a:rPr sz="1000" spc="60" dirty="0">
                <a:solidFill>
                  <a:srgbClr val="9CB6AA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9CB6AA"/>
                </a:solidFill>
                <a:latin typeface="Trebuchet MS"/>
                <a:cs typeface="Trebuchet MS"/>
              </a:rPr>
              <a:t>РАБОТА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5" dirty="0"/>
              <a:t>Мышь</a:t>
            </a:r>
            <a:r>
              <a:rPr spc="160" dirty="0"/>
              <a:t> </a:t>
            </a:r>
            <a:r>
              <a:rPr spc="295" dirty="0"/>
              <a:t>в</a:t>
            </a:r>
            <a:r>
              <a:rPr spc="160" dirty="0"/>
              <a:t> </a:t>
            </a:r>
            <a:r>
              <a:rPr spc="360" dirty="0"/>
              <a:t>лабиринте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500" y="1746250"/>
            <a:ext cx="46431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65" dirty="0">
                <a:solidFill>
                  <a:srgbClr val="BFCFC6"/>
                </a:solidFill>
                <a:latin typeface="Trebuchet MS"/>
                <a:cs typeface="Trebuchet MS"/>
              </a:rPr>
              <a:t>От</a:t>
            </a:r>
            <a:r>
              <a:rPr sz="1400" spc="2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BFCFC6"/>
                </a:solidFill>
                <a:latin typeface="Trebuchet MS"/>
                <a:cs typeface="Trebuchet MS"/>
              </a:rPr>
              <a:t>случайных</a:t>
            </a:r>
            <a:r>
              <a:rPr sz="1400" spc="2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BFCFC6"/>
                </a:solidFill>
                <a:latin typeface="Trebuchet MS"/>
                <a:cs typeface="Trebuchet MS"/>
              </a:rPr>
              <a:t>действий</a:t>
            </a:r>
            <a:r>
              <a:rPr sz="1400" spc="2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BFCFC6"/>
                </a:solidFill>
                <a:latin typeface="Trebuchet MS"/>
                <a:cs typeface="Trebuchet MS"/>
              </a:rPr>
              <a:t>к</a:t>
            </a:r>
            <a:r>
              <a:rPr sz="1400" spc="2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BFCFC6"/>
                </a:solidFill>
                <a:latin typeface="Trebuchet MS"/>
                <a:cs typeface="Trebuchet MS"/>
              </a:rPr>
              <a:t>выученному</a:t>
            </a:r>
            <a:r>
              <a:rPr sz="1400" spc="2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BFCFC6"/>
                </a:solidFill>
                <a:latin typeface="Trebuchet MS"/>
                <a:cs typeface="Trebuchet MS"/>
              </a:rPr>
              <a:t>маршруту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500" y="2617470"/>
            <a:ext cx="5153660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700"/>
              </a:lnSpc>
              <a:spcBef>
                <a:spcPts val="100"/>
              </a:spcBef>
            </a:pPr>
            <a:r>
              <a:rPr sz="2300" spc="210" dirty="0">
                <a:solidFill>
                  <a:srgbClr val="F4F2EB"/>
                </a:solidFill>
                <a:latin typeface="Trebuchet MS"/>
                <a:cs typeface="Trebuchet MS"/>
              </a:rPr>
              <a:t>Как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15" dirty="0">
                <a:solidFill>
                  <a:srgbClr val="F4F2EB"/>
                </a:solidFill>
                <a:latin typeface="Trebuchet MS"/>
                <a:cs typeface="Trebuchet MS"/>
              </a:rPr>
              <a:t>агент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185" dirty="0">
                <a:solidFill>
                  <a:srgbClr val="F4F2EB"/>
                </a:solidFill>
                <a:latin typeface="Trebuchet MS"/>
                <a:cs typeface="Trebuchet MS"/>
              </a:rPr>
              <a:t>учится</a:t>
            </a:r>
            <a:r>
              <a:rPr sz="2300" spc="5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F4F2EB"/>
                </a:solidFill>
                <a:latin typeface="Trebuchet MS"/>
                <a:cs typeface="Trebuchet MS"/>
              </a:rPr>
              <a:t>выбирать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150" dirty="0">
                <a:solidFill>
                  <a:srgbClr val="F4F2EB"/>
                </a:solidFill>
                <a:latin typeface="Trebuchet MS"/>
                <a:cs typeface="Trebuchet MS"/>
              </a:rPr>
              <a:t>путь, если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F4F2EB"/>
                </a:solidFill>
                <a:latin typeface="Trebuchet MS"/>
                <a:cs typeface="Trebuchet MS"/>
              </a:rPr>
              <a:t>получает</a:t>
            </a:r>
            <a:r>
              <a:rPr sz="2300" spc="5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190" dirty="0">
                <a:solidFill>
                  <a:srgbClr val="F4F2EB"/>
                </a:solidFill>
                <a:latin typeface="Trebuchet MS"/>
                <a:cs typeface="Trebuchet MS"/>
              </a:rPr>
              <a:t>только</a:t>
            </a:r>
            <a:r>
              <a:rPr sz="2300" spc="5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F4F2EB"/>
                </a:solidFill>
                <a:latin typeface="Trebuchet MS"/>
                <a:cs typeface="Trebuchet MS"/>
              </a:rPr>
              <a:t>награды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300" spc="170" dirty="0">
                <a:solidFill>
                  <a:srgbClr val="F4F2EB"/>
                </a:solidFill>
                <a:latin typeface="Trebuchet MS"/>
                <a:cs typeface="Trebuchet MS"/>
              </a:rPr>
              <a:t>и</a:t>
            </a:r>
            <a:r>
              <a:rPr sz="2300" spc="4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40" dirty="0">
                <a:solidFill>
                  <a:srgbClr val="F4F2EB"/>
                </a:solidFill>
                <a:latin typeface="Trebuchet MS"/>
                <a:cs typeface="Trebuchet MS"/>
              </a:rPr>
              <a:t>штрафы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F4F2EB"/>
                </a:solidFill>
                <a:latin typeface="Trebuchet MS"/>
                <a:cs typeface="Trebuchet MS"/>
              </a:rPr>
              <a:t>за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155" dirty="0">
                <a:solidFill>
                  <a:srgbClr val="F4F2EB"/>
                </a:solidFill>
                <a:latin typeface="Trebuchet MS"/>
                <a:cs typeface="Trebuchet MS"/>
              </a:rPr>
              <a:t>свои</a:t>
            </a:r>
            <a:r>
              <a:rPr sz="2300" spc="4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F4F2EB"/>
                </a:solidFill>
                <a:latin typeface="Trebuchet MS"/>
                <a:cs typeface="Trebuchet MS"/>
              </a:rPr>
              <a:t>действия?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200" y="5251450"/>
            <a:ext cx="5016500" cy="812800"/>
          </a:xfrm>
          <a:custGeom>
            <a:avLst/>
            <a:gdLst/>
            <a:ahLst/>
            <a:cxnLst/>
            <a:rect l="l" t="t" r="r" b="b"/>
            <a:pathLst>
              <a:path w="5016500" h="812800">
                <a:moveTo>
                  <a:pt x="4889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685800"/>
                </a:lnTo>
                <a:lnTo>
                  <a:pt x="9971" y="735261"/>
                </a:lnTo>
                <a:lnTo>
                  <a:pt x="37172" y="775627"/>
                </a:lnTo>
                <a:lnTo>
                  <a:pt x="77538" y="802828"/>
                </a:lnTo>
                <a:lnTo>
                  <a:pt x="127000" y="812800"/>
                </a:lnTo>
                <a:lnTo>
                  <a:pt x="4889500" y="812800"/>
                </a:lnTo>
                <a:lnTo>
                  <a:pt x="4938961" y="802828"/>
                </a:lnTo>
                <a:lnTo>
                  <a:pt x="4979327" y="775627"/>
                </a:lnTo>
                <a:lnTo>
                  <a:pt x="5006528" y="735261"/>
                </a:lnTo>
                <a:lnTo>
                  <a:pt x="5016500" y="685800"/>
                </a:lnTo>
                <a:lnTo>
                  <a:pt x="5016500" y="127000"/>
                </a:lnTo>
                <a:lnTo>
                  <a:pt x="5006528" y="77538"/>
                </a:lnTo>
                <a:lnTo>
                  <a:pt x="4979327" y="37172"/>
                </a:lnTo>
                <a:lnTo>
                  <a:pt x="4938961" y="9971"/>
                </a:lnTo>
                <a:lnTo>
                  <a:pt x="4889500" y="0"/>
                </a:lnTo>
                <a:close/>
              </a:path>
            </a:pathLst>
          </a:custGeom>
          <a:solidFill>
            <a:srgbClr val="236B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2800" y="5402579"/>
            <a:ext cx="2934970" cy="5549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spc="55" dirty="0">
                <a:solidFill>
                  <a:srgbClr val="BCDACA"/>
                </a:solidFill>
                <a:latin typeface="Trebuchet MS"/>
                <a:cs typeface="Trebuchet MS"/>
              </a:rPr>
              <a:t>МЕТОД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800" spc="90" dirty="0">
                <a:solidFill>
                  <a:srgbClr val="F4F2EB"/>
                </a:solidFill>
                <a:latin typeface="Trebuchet MS"/>
                <a:cs typeface="Trebuchet MS"/>
              </a:rPr>
              <a:t>Q-</a:t>
            </a:r>
            <a:r>
              <a:rPr sz="1800" spc="95" dirty="0">
                <a:solidFill>
                  <a:srgbClr val="F4F2EB"/>
                </a:solidFill>
                <a:latin typeface="Trebuchet MS"/>
                <a:cs typeface="Trebuchet MS"/>
              </a:rPr>
              <a:t>learning</a:t>
            </a:r>
            <a:r>
              <a:rPr sz="1800" spc="45" dirty="0">
                <a:solidFill>
                  <a:srgbClr val="F4F2EB"/>
                </a:solidFill>
                <a:latin typeface="Trebuchet MS"/>
                <a:cs typeface="Trebuchet MS"/>
              </a:rPr>
              <a:t>  </a:t>
            </a:r>
            <a:r>
              <a:rPr sz="1800" spc="-355" dirty="0">
                <a:solidFill>
                  <a:srgbClr val="F4F2EB"/>
                </a:solidFill>
                <a:latin typeface="Trebuchet MS"/>
                <a:cs typeface="Trebuchet MS"/>
              </a:rPr>
              <a:t>/</a:t>
            </a:r>
            <a:r>
              <a:rPr sz="1800" spc="50" dirty="0">
                <a:solidFill>
                  <a:srgbClr val="F4F2EB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4F2EB"/>
                </a:solidFill>
                <a:latin typeface="Trebuchet MS"/>
                <a:cs typeface="Trebuchet MS"/>
              </a:rPr>
              <a:t>Java</a:t>
            </a:r>
            <a:r>
              <a:rPr sz="1800" spc="50" dirty="0">
                <a:solidFill>
                  <a:srgbClr val="F4F2EB"/>
                </a:solidFill>
                <a:latin typeface="Trebuchet MS"/>
                <a:cs typeface="Trebuchet MS"/>
              </a:rPr>
              <a:t>  </a:t>
            </a:r>
            <a:r>
              <a:rPr sz="1800" spc="-355" dirty="0">
                <a:solidFill>
                  <a:srgbClr val="F4F2EB"/>
                </a:solidFill>
                <a:latin typeface="Trebuchet MS"/>
                <a:cs typeface="Trebuchet MS"/>
              </a:rPr>
              <a:t>/</a:t>
            </a:r>
            <a:r>
              <a:rPr sz="1800" spc="50" dirty="0">
                <a:solidFill>
                  <a:srgbClr val="F4F2EB"/>
                </a:solidFill>
                <a:latin typeface="Trebuchet MS"/>
                <a:cs typeface="Trebuchet MS"/>
              </a:rPr>
              <a:t>  </a:t>
            </a:r>
            <a:r>
              <a:rPr sz="1800" spc="140" dirty="0">
                <a:solidFill>
                  <a:srgbClr val="F4F2EB"/>
                </a:solidFill>
                <a:latin typeface="Trebuchet MS"/>
                <a:cs typeface="Trebuchet MS"/>
              </a:rPr>
              <a:t>UML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5700" y="2736850"/>
            <a:ext cx="5118100" cy="30607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3B5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>
                <a:solidFill>
                  <a:srgbClr val="9CB6AA"/>
                </a:solidFill>
              </a:rPr>
              <a:t>ОБУЧЕНИЕ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95" dirty="0">
                <a:solidFill>
                  <a:srgbClr val="9CB6AA"/>
                </a:solidFill>
              </a:rPr>
              <a:t>С</a:t>
            </a:r>
            <a:r>
              <a:rPr dirty="0">
                <a:solidFill>
                  <a:srgbClr val="9CB6AA"/>
                </a:solidFill>
              </a:rPr>
              <a:t> </a:t>
            </a:r>
            <a:r>
              <a:rPr spc="65" dirty="0">
                <a:solidFill>
                  <a:srgbClr val="9CB6AA"/>
                </a:solidFill>
              </a:rPr>
              <a:t>ПОДКРЕПЛЕНИЕМ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9CB6AA"/>
                </a:solidFill>
                <a:latin typeface="Trebuchet MS"/>
                <a:cs typeface="Trebuchet MS"/>
              </a:rPr>
              <a:t>01</a:t>
            </a:r>
            <a:r>
              <a:rPr sz="1000" spc="15" dirty="0">
                <a:solidFill>
                  <a:srgbClr val="9CB6AA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9CB6AA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9CB6AA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9CB6AA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332740"/>
            <a:ext cx="17957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01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ПОСТАНОВКА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697772"/>
                </a:solidFill>
                <a:latin typeface="Trebuchet MS"/>
                <a:cs typeface="Trebuchet MS"/>
              </a:rPr>
              <a:t>ЗАДАЧИ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100" y="1035050"/>
            <a:ext cx="8020050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475" dirty="0">
                <a:solidFill>
                  <a:srgbClr val="162A28"/>
                </a:solidFill>
                <a:latin typeface="Trebuchet MS"/>
                <a:cs typeface="Trebuchet MS"/>
              </a:rPr>
              <a:t>Одна</a:t>
            </a:r>
            <a:r>
              <a:rPr sz="3400" b="1" spc="17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10" dirty="0">
                <a:solidFill>
                  <a:srgbClr val="162A28"/>
                </a:solidFill>
                <a:latin typeface="Trebuchet MS"/>
                <a:cs typeface="Trebuchet MS"/>
              </a:rPr>
              <a:t>цель.</a:t>
            </a:r>
            <a:r>
              <a:rPr sz="3400" b="1" spc="17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85" dirty="0">
                <a:solidFill>
                  <a:srgbClr val="162A28"/>
                </a:solidFill>
                <a:latin typeface="Trebuchet MS"/>
                <a:cs typeface="Trebuchet MS"/>
              </a:rPr>
              <a:t>Несколько</a:t>
            </a:r>
            <a:r>
              <a:rPr sz="3400" b="1" spc="17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00" dirty="0">
                <a:solidFill>
                  <a:srgbClr val="162A28"/>
                </a:solidFill>
                <a:latin typeface="Trebuchet MS"/>
                <a:cs typeface="Trebuchet MS"/>
              </a:rPr>
              <a:t>условий.</a:t>
            </a:r>
            <a:endParaRPr sz="34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520"/>
              </a:spcBef>
            </a:pP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Успешное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прохождение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365" dirty="0">
                <a:solidFill>
                  <a:srgbClr val="697772"/>
                </a:solidFill>
                <a:latin typeface="Trebuchet MS"/>
                <a:cs typeface="Trebuchet MS"/>
              </a:rPr>
              <a:t>—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это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не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просто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добраться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до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90" dirty="0">
                <a:solidFill>
                  <a:srgbClr val="697772"/>
                </a:solidFill>
                <a:latin typeface="Trebuchet MS"/>
                <a:cs typeface="Trebuchet MS"/>
              </a:rPr>
              <a:t>сыра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2711450"/>
            <a:ext cx="4038600" cy="3035300"/>
          </a:xfrm>
          <a:custGeom>
            <a:avLst/>
            <a:gdLst/>
            <a:ahLst/>
            <a:cxnLst/>
            <a:rect l="l" t="t" r="r" b="b"/>
            <a:pathLst>
              <a:path w="4038600" h="3035300">
                <a:moveTo>
                  <a:pt x="38862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2882900"/>
                </a:lnTo>
                <a:lnTo>
                  <a:pt x="7761" y="2931100"/>
                </a:lnTo>
                <a:lnTo>
                  <a:pt x="29381" y="2972939"/>
                </a:lnTo>
                <a:lnTo>
                  <a:pt x="62360" y="3005918"/>
                </a:lnTo>
                <a:lnTo>
                  <a:pt x="104199" y="3027538"/>
                </a:lnTo>
                <a:lnTo>
                  <a:pt x="152400" y="3035300"/>
                </a:lnTo>
                <a:lnTo>
                  <a:pt x="3886200" y="3035300"/>
                </a:lnTo>
                <a:lnTo>
                  <a:pt x="3934400" y="3027538"/>
                </a:lnTo>
                <a:lnTo>
                  <a:pt x="3976239" y="3005918"/>
                </a:lnTo>
                <a:lnTo>
                  <a:pt x="4009218" y="2972939"/>
                </a:lnTo>
                <a:lnTo>
                  <a:pt x="4030838" y="2931100"/>
                </a:lnTo>
                <a:lnTo>
                  <a:pt x="4038600" y="2882900"/>
                </a:lnTo>
                <a:lnTo>
                  <a:pt x="4038600" y="152400"/>
                </a:lnTo>
                <a:lnTo>
                  <a:pt x="4030838" y="104199"/>
                </a:lnTo>
                <a:lnTo>
                  <a:pt x="4009218" y="62360"/>
                </a:lnTo>
                <a:lnTo>
                  <a:pt x="3976239" y="29381"/>
                </a:lnTo>
                <a:lnTo>
                  <a:pt x="3934400" y="7761"/>
                </a:lnTo>
                <a:lnTo>
                  <a:pt x="3886200" y="0"/>
                </a:lnTo>
                <a:close/>
              </a:path>
            </a:pathLst>
          </a:custGeom>
          <a:solidFill>
            <a:srgbClr val="E4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8200" y="2736850"/>
            <a:ext cx="1717039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385" dirty="0">
                <a:solidFill>
                  <a:srgbClr val="236B52"/>
                </a:solidFill>
                <a:latin typeface="Trebuchet MS"/>
                <a:cs typeface="Trebuchet MS"/>
              </a:rPr>
              <a:t>01</a:t>
            </a:r>
            <a:endParaRPr sz="3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sz="2200" b="1" spc="254" dirty="0">
                <a:solidFill>
                  <a:srgbClr val="162A28"/>
                </a:solidFill>
                <a:latin typeface="Trebuchet MS"/>
                <a:cs typeface="Trebuchet MS"/>
              </a:rPr>
              <a:t>Найти</a:t>
            </a:r>
            <a:r>
              <a:rPr sz="2200" b="1" spc="10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200" b="1" spc="229" dirty="0">
                <a:solidFill>
                  <a:srgbClr val="162A28"/>
                </a:solidFill>
                <a:latin typeface="Trebuchet MS"/>
                <a:cs typeface="Trebuchet MS"/>
              </a:rPr>
              <a:t>сыр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200" y="4276090"/>
            <a:ext cx="28047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00"/>
              </a:spcBef>
            </a:pPr>
            <a:r>
              <a:rPr sz="1600" spc="120" dirty="0">
                <a:solidFill>
                  <a:srgbClr val="162A28"/>
                </a:solidFill>
                <a:latin typeface="Trebuchet MS"/>
                <a:cs typeface="Trebuchet MS"/>
              </a:rPr>
              <a:t>Достичь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162A28"/>
                </a:solidFill>
                <a:latin typeface="Trebuchet MS"/>
                <a:cs typeface="Trebuchet MS"/>
              </a:rPr>
              <a:t>конечной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162A28"/>
                </a:solidFill>
                <a:latin typeface="Trebuchet MS"/>
                <a:cs typeface="Trebuchet MS"/>
              </a:rPr>
              <a:t>клетки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30" dirty="0">
                <a:solidFill>
                  <a:srgbClr val="162A28"/>
                </a:solidFill>
                <a:latin typeface="Trebuchet MS"/>
                <a:cs typeface="Trebuchet MS"/>
              </a:rPr>
              <a:t>получить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162A28"/>
                </a:solidFill>
                <a:latin typeface="Trebuchet MS"/>
                <a:cs typeface="Trebuchet MS"/>
              </a:rPr>
              <a:t>награду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85" dirty="0">
                <a:solidFill>
                  <a:srgbClr val="162A28"/>
                </a:solidFill>
                <a:latin typeface="Trebuchet MS"/>
                <a:cs typeface="Trebuchet MS"/>
              </a:rPr>
              <a:t>+Z.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38700" y="2711450"/>
            <a:ext cx="4038600" cy="3035300"/>
          </a:xfrm>
          <a:custGeom>
            <a:avLst/>
            <a:gdLst/>
            <a:ahLst/>
            <a:cxnLst/>
            <a:rect l="l" t="t" r="r" b="b"/>
            <a:pathLst>
              <a:path w="4038600" h="3035300">
                <a:moveTo>
                  <a:pt x="38862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2882900"/>
                </a:lnTo>
                <a:lnTo>
                  <a:pt x="7761" y="2931100"/>
                </a:lnTo>
                <a:lnTo>
                  <a:pt x="29381" y="2972939"/>
                </a:lnTo>
                <a:lnTo>
                  <a:pt x="62360" y="3005918"/>
                </a:lnTo>
                <a:lnTo>
                  <a:pt x="104199" y="3027538"/>
                </a:lnTo>
                <a:lnTo>
                  <a:pt x="152400" y="3035300"/>
                </a:lnTo>
                <a:lnTo>
                  <a:pt x="3886200" y="3035300"/>
                </a:lnTo>
                <a:lnTo>
                  <a:pt x="3934400" y="3027538"/>
                </a:lnTo>
                <a:lnTo>
                  <a:pt x="3976239" y="3005918"/>
                </a:lnTo>
                <a:lnTo>
                  <a:pt x="4009218" y="2972939"/>
                </a:lnTo>
                <a:lnTo>
                  <a:pt x="4030838" y="2931100"/>
                </a:lnTo>
                <a:lnTo>
                  <a:pt x="4038600" y="2882900"/>
                </a:lnTo>
                <a:lnTo>
                  <a:pt x="4038600" y="152400"/>
                </a:lnTo>
                <a:lnTo>
                  <a:pt x="4030838" y="104199"/>
                </a:lnTo>
                <a:lnTo>
                  <a:pt x="4009218" y="62360"/>
                </a:lnTo>
                <a:lnTo>
                  <a:pt x="3976239" y="29381"/>
                </a:lnTo>
                <a:lnTo>
                  <a:pt x="3934400" y="7761"/>
                </a:lnTo>
                <a:lnTo>
                  <a:pt x="3886200" y="0"/>
                </a:lnTo>
                <a:close/>
              </a:path>
            </a:pathLst>
          </a:custGeom>
          <a:solidFill>
            <a:srgbClr val="E4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18100" y="2736850"/>
            <a:ext cx="2218690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385" dirty="0">
                <a:solidFill>
                  <a:srgbClr val="236B52"/>
                </a:solidFill>
                <a:latin typeface="Trebuchet MS"/>
                <a:cs typeface="Trebuchet MS"/>
              </a:rPr>
              <a:t>02</a:t>
            </a:r>
            <a:endParaRPr sz="3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sz="2200" b="1" spc="245" dirty="0">
                <a:solidFill>
                  <a:srgbClr val="162A28"/>
                </a:solidFill>
                <a:latin typeface="Trebuchet MS"/>
                <a:cs typeface="Trebuchet MS"/>
              </a:rPr>
              <a:t>Собрать</a:t>
            </a:r>
            <a:r>
              <a:rPr sz="2200" b="1" spc="10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200" b="1" spc="240" dirty="0">
                <a:solidFill>
                  <a:srgbClr val="162A28"/>
                </a:solidFill>
                <a:latin typeface="Trebuchet MS"/>
                <a:cs typeface="Trebuchet MS"/>
              </a:rPr>
              <a:t>воду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8100" y="4276090"/>
            <a:ext cx="23329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00"/>
              </a:spcBef>
            </a:pPr>
            <a:r>
              <a:rPr sz="1600" spc="105" dirty="0">
                <a:solidFill>
                  <a:srgbClr val="162A28"/>
                </a:solidFill>
                <a:latin typeface="Trebuchet MS"/>
                <a:cs typeface="Trebuchet MS"/>
              </a:rPr>
              <a:t>Учесть</a:t>
            </a:r>
            <a:r>
              <a:rPr sz="16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55" dirty="0">
                <a:solidFill>
                  <a:srgbClr val="162A28"/>
                </a:solidFill>
                <a:latin typeface="Trebuchet MS"/>
                <a:cs typeface="Trebuchet MS"/>
              </a:rPr>
              <a:t>выпитую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воду в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состоянии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162A28"/>
                </a:solidFill>
                <a:latin typeface="Trebuchet MS"/>
                <a:cs typeface="Trebuchet MS"/>
              </a:rPr>
              <a:t>мыши.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18600" y="2711450"/>
            <a:ext cx="4038600" cy="3035300"/>
          </a:xfrm>
          <a:custGeom>
            <a:avLst/>
            <a:gdLst/>
            <a:ahLst/>
            <a:cxnLst/>
            <a:rect l="l" t="t" r="r" b="b"/>
            <a:pathLst>
              <a:path w="4038600" h="3035300">
                <a:moveTo>
                  <a:pt x="38862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2882900"/>
                </a:lnTo>
                <a:lnTo>
                  <a:pt x="7761" y="2931100"/>
                </a:lnTo>
                <a:lnTo>
                  <a:pt x="29381" y="2972939"/>
                </a:lnTo>
                <a:lnTo>
                  <a:pt x="62360" y="3005918"/>
                </a:lnTo>
                <a:lnTo>
                  <a:pt x="104199" y="3027538"/>
                </a:lnTo>
                <a:lnTo>
                  <a:pt x="152400" y="3035300"/>
                </a:lnTo>
                <a:lnTo>
                  <a:pt x="3886200" y="3035300"/>
                </a:lnTo>
                <a:lnTo>
                  <a:pt x="3934402" y="3027538"/>
                </a:lnTo>
                <a:lnTo>
                  <a:pt x="3976241" y="3005918"/>
                </a:lnTo>
                <a:lnTo>
                  <a:pt x="4009219" y="2972939"/>
                </a:lnTo>
                <a:lnTo>
                  <a:pt x="4030838" y="2931100"/>
                </a:lnTo>
                <a:lnTo>
                  <a:pt x="4038600" y="2882900"/>
                </a:lnTo>
                <a:lnTo>
                  <a:pt x="4038600" y="152400"/>
                </a:lnTo>
                <a:lnTo>
                  <a:pt x="4030838" y="104199"/>
                </a:lnTo>
                <a:lnTo>
                  <a:pt x="4009219" y="62360"/>
                </a:lnTo>
                <a:lnTo>
                  <a:pt x="3976241" y="29381"/>
                </a:lnTo>
                <a:lnTo>
                  <a:pt x="3934402" y="7761"/>
                </a:lnTo>
                <a:lnTo>
                  <a:pt x="3886200" y="0"/>
                </a:lnTo>
                <a:close/>
              </a:path>
            </a:pathLst>
          </a:custGeom>
          <a:solidFill>
            <a:srgbClr val="E4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98000" y="2736850"/>
            <a:ext cx="2532380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385" dirty="0">
                <a:solidFill>
                  <a:srgbClr val="236B52"/>
                </a:solidFill>
                <a:latin typeface="Trebuchet MS"/>
                <a:cs typeface="Trebuchet MS"/>
              </a:rPr>
              <a:t>03</a:t>
            </a:r>
            <a:endParaRPr sz="3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sz="2200" b="1" spc="215" dirty="0">
                <a:solidFill>
                  <a:srgbClr val="162A28"/>
                </a:solidFill>
                <a:latin typeface="Trebuchet MS"/>
                <a:cs typeface="Trebuchet MS"/>
              </a:rPr>
              <a:t>Избегать</a:t>
            </a:r>
            <a:r>
              <a:rPr sz="2200" b="1" spc="11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200" b="1" spc="215" dirty="0">
                <a:solidFill>
                  <a:srgbClr val="162A28"/>
                </a:solidFill>
                <a:latin typeface="Trebuchet MS"/>
                <a:cs typeface="Trebuchet MS"/>
              </a:rPr>
              <a:t>травм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98000" y="4276090"/>
            <a:ext cx="240855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00"/>
              </a:spcBef>
            </a:pPr>
            <a:r>
              <a:rPr sz="1600" spc="135" dirty="0">
                <a:solidFill>
                  <a:srgbClr val="162A28"/>
                </a:solidFill>
                <a:latin typeface="Trebuchet MS"/>
                <a:cs typeface="Trebuchet MS"/>
              </a:rPr>
              <a:t>Учитывать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65" dirty="0">
                <a:solidFill>
                  <a:srgbClr val="162A28"/>
                </a:solidFill>
                <a:latin typeface="Trebuchet MS"/>
                <a:cs typeface="Trebuchet MS"/>
              </a:rPr>
              <a:t>штраф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300" dirty="0">
                <a:solidFill>
                  <a:srgbClr val="162A28"/>
                </a:solidFill>
                <a:latin typeface="Trebuchet MS"/>
                <a:cs typeface="Trebuchet MS"/>
              </a:rPr>
              <a:t>−y </a:t>
            </a:r>
            <a:r>
              <a:rPr sz="1600" spc="130" dirty="0">
                <a:solidFill>
                  <a:srgbClr val="162A28"/>
                </a:solidFill>
                <a:latin typeface="Trebuchet MS"/>
                <a:cs typeface="Trebuchet MS"/>
              </a:rPr>
              <a:t>при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выборе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162A28"/>
                </a:solidFill>
                <a:latin typeface="Trebuchet MS"/>
                <a:cs typeface="Trebuchet MS"/>
              </a:rPr>
              <a:t>действий.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1500" y="6191250"/>
            <a:ext cx="88112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35" dirty="0">
                <a:solidFill>
                  <a:srgbClr val="162A28"/>
                </a:solidFill>
                <a:latin typeface="Trebuchet MS"/>
                <a:cs typeface="Trebuchet MS"/>
              </a:rPr>
              <a:t>Пользователь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55" dirty="0">
                <a:solidFill>
                  <a:srgbClr val="162A28"/>
                </a:solidFill>
                <a:latin typeface="Trebuchet MS"/>
                <a:cs typeface="Trebuchet MS"/>
              </a:rPr>
              <a:t>задаёт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162A28"/>
                </a:solidFill>
                <a:latin typeface="Trebuchet MS"/>
                <a:cs typeface="Trebuchet MS"/>
              </a:rPr>
              <a:t>размеры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0" dirty="0">
                <a:solidFill>
                  <a:srgbClr val="162A28"/>
                </a:solidFill>
                <a:latin typeface="Trebuchet MS"/>
                <a:cs typeface="Trebuchet MS"/>
              </a:rPr>
              <a:t>схему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лабиринта,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45" dirty="0">
                <a:solidFill>
                  <a:srgbClr val="162A28"/>
                </a:solidFill>
                <a:latin typeface="Trebuchet MS"/>
                <a:cs typeface="Trebuchet MS"/>
              </a:rPr>
              <a:t>а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65" dirty="0">
                <a:solidFill>
                  <a:srgbClr val="162A28"/>
                </a:solidFill>
                <a:latin typeface="Trebuchet MS"/>
                <a:cs typeface="Trebuchet MS"/>
              </a:rPr>
              <a:t>также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40" dirty="0">
                <a:solidFill>
                  <a:srgbClr val="162A28"/>
                </a:solidFill>
                <a:latin typeface="Trebuchet MS"/>
                <a:cs typeface="Trebuchet MS"/>
              </a:rPr>
              <a:t>параметры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80" dirty="0">
                <a:solidFill>
                  <a:srgbClr val="162A28"/>
                </a:solidFill>
                <a:latin typeface="Trebuchet MS"/>
                <a:cs typeface="Trebuchet MS"/>
              </a:rPr>
              <a:t>обучения.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280" dirty="0"/>
              <a:t> </a:t>
            </a: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02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8800" y="390525"/>
            <a:ext cx="1583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02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ПЛАН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697772"/>
                </a:solidFill>
                <a:latin typeface="Trebuchet MS"/>
                <a:cs typeface="Trebuchet MS"/>
              </a:rPr>
              <a:t>РАЗРАБОТКИ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60" dirty="0">
                <a:solidFill>
                  <a:srgbClr val="162A28"/>
                </a:solidFill>
              </a:rPr>
              <a:t>Пять</a:t>
            </a:r>
            <a:r>
              <a:rPr spc="170" dirty="0">
                <a:solidFill>
                  <a:srgbClr val="162A28"/>
                </a:solidFill>
              </a:rPr>
              <a:t> </a:t>
            </a:r>
            <a:r>
              <a:rPr spc="450" dirty="0">
                <a:solidFill>
                  <a:srgbClr val="162A28"/>
                </a:solidFill>
              </a:rPr>
              <a:t>шагов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505" dirty="0">
                <a:solidFill>
                  <a:srgbClr val="162A28"/>
                </a:solidFill>
              </a:rPr>
              <a:t>до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470" dirty="0">
                <a:solidFill>
                  <a:srgbClr val="162A28"/>
                </a:solidFill>
              </a:rPr>
              <a:t>работающей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385" dirty="0">
                <a:solidFill>
                  <a:srgbClr val="162A28"/>
                </a:solidFill>
              </a:rPr>
              <a:t>модели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7059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Сначала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определяем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структуру,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затем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реализуем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и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проверяем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поведение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7850" y="2780481"/>
          <a:ext cx="12541885" cy="3089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434">
                <a:tc>
                  <a:txBody>
                    <a:bodyPr/>
                    <a:lstStyle/>
                    <a:p>
                      <a:pPr marL="31750">
                        <a:lnSpc>
                          <a:spcPts val="2255"/>
                        </a:lnSpc>
                      </a:pPr>
                      <a:r>
                        <a:rPr sz="2000" b="1" spc="185" dirty="0">
                          <a:solidFill>
                            <a:srgbClr val="236B52"/>
                          </a:solidFill>
                          <a:latin typeface="Trebuchet MS"/>
                          <a:cs typeface="Trebuchet MS"/>
                        </a:rPr>
                        <a:t>01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ts val="2255"/>
                        </a:lnSpc>
                      </a:pPr>
                      <a:r>
                        <a:rPr sz="2000" b="1" spc="185" dirty="0">
                          <a:solidFill>
                            <a:srgbClr val="162A28"/>
                          </a:solidFill>
                          <a:latin typeface="Trebuchet MS"/>
                          <a:cs typeface="Trebuchet MS"/>
                        </a:rPr>
                        <a:t>Требования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37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114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Условия</a:t>
                      </a:r>
                      <a:r>
                        <a:rPr sz="1800" spc="3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успеха</a:t>
                      </a:r>
                      <a:r>
                        <a:rPr sz="1800" spc="3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и</a:t>
                      </a:r>
                      <a:r>
                        <a:rPr sz="1800" spc="3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UML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6985" marB="0"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b="1" spc="185" dirty="0">
                          <a:solidFill>
                            <a:srgbClr val="236B52"/>
                          </a:solidFill>
                          <a:latin typeface="Trebuchet MS"/>
                          <a:cs typeface="Trebuchet MS"/>
                        </a:rPr>
                        <a:t>02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b="1" spc="260" dirty="0">
                          <a:solidFill>
                            <a:srgbClr val="162A28"/>
                          </a:solidFill>
                          <a:latin typeface="Trebuchet MS"/>
                          <a:cs typeface="Trebuchet MS"/>
                        </a:rPr>
                        <a:t>Модель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>
                    <a:lnT w="12700">
                      <a:solidFill>
                        <a:srgbClr val="D8DDD3"/>
                      </a:solidFill>
                      <a:prstDash val="solid"/>
                    </a:lnT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3765">
                        <a:lnSpc>
                          <a:spcPct val="100000"/>
                        </a:lnSpc>
                      </a:pPr>
                      <a:r>
                        <a:rPr sz="1800" spc="12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Клетки,</a:t>
                      </a:r>
                      <a:r>
                        <a:rPr sz="1800" spc="4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2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объекты,</a:t>
                      </a:r>
                      <a:r>
                        <a:rPr sz="1800" spc="5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3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состояния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160" marB="0">
                    <a:lnT w="12700">
                      <a:solidFill>
                        <a:srgbClr val="D8DDD3"/>
                      </a:solidFill>
                      <a:prstDash val="solid"/>
                    </a:lnT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b="1" spc="185" dirty="0">
                          <a:solidFill>
                            <a:srgbClr val="236B52"/>
                          </a:solidFill>
                          <a:latin typeface="Trebuchet MS"/>
                          <a:cs typeface="Trebuchet MS"/>
                        </a:rPr>
                        <a:t>03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b="1" spc="200" dirty="0">
                          <a:solidFill>
                            <a:srgbClr val="162A28"/>
                          </a:solidFill>
                          <a:latin typeface="Trebuchet MS"/>
                          <a:cs typeface="Trebuchet MS"/>
                        </a:rPr>
                        <a:t>Обучение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>
                    <a:lnT w="12700">
                      <a:solidFill>
                        <a:srgbClr val="D8DDD3"/>
                      </a:solidFill>
                      <a:prstDash val="solid"/>
                    </a:lnT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3765">
                        <a:lnSpc>
                          <a:spcPct val="100000"/>
                        </a:lnSpc>
                      </a:pPr>
                      <a:r>
                        <a:rPr sz="1800" spc="14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Действия</a:t>
                      </a:r>
                      <a:r>
                        <a:rPr sz="1800" spc="3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и</a:t>
                      </a:r>
                      <a:r>
                        <a:rPr sz="1800" spc="3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5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Q-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таблица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160" marB="0">
                    <a:lnT w="12700">
                      <a:solidFill>
                        <a:srgbClr val="D8DDD3"/>
                      </a:solidFill>
                      <a:prstDash val="solid"/>
                    </a:lnT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b="1" spc="185" dirty="0">
                          <a:solidFill>
                            <a:srgbClr val="236B52"/>
                          </a:solidFill>
                          <a:latin typeface="Trebuchet MS"/>
                          <a:cs typeface="Trebuchet MS"/>
                        </a:rPr>
                        <a:t>04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b="1" spc="204" dirty="0">
                          <a:solidFill>
                            <a:srgbClr val="162A28"/>
                          </a:solidFill>
                          <a:latin typeface="Trebuchet MS"/>
                          <a:cs typeface="Trebuchet MS"/>
                        </a:rPr>
                        <a:t>Интерфейс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>
                    <a:lnT w="12700">
                      <a:solidFill>
                        <a:srgbClr val="D8DDD3"/>
                      </a:solidFill>
                      <a:prstDash val="solid"/>
                    </a:lnT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3765">
                        <a:lnSpc>
                          <a:spcPct val="100000"/>
                        </a:lnSpc>
                      </a:pPr>
                      <a:r>
                        <a:rPr sz="1800" spc="15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Движение</a:t>
                      </a:r>
                      <a:r>
                        <a:rPr sz="1800" spc="4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и</a:t>
                      </a:r>
                      <a:r>
                        <a:rPr sz="1800" spc="4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6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маршрут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160" marB="0">
                    <a:lnT w="12700">
                      <a:solidFill>
                        <a:srgbClr val="D8DDD3"/>
                      </a:solidFill>
                      <a:prstDash val="solid"/>
                    </a:lnT>
                    <a:lnB w="12700">
                      <a:solidFill>
                        <a:srgbClr val="D8DD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marL="31750">
                        <a:lnSpc>
                          <a:spcPts val="2370"/>
                        </a:lnSpc>
                        <a:spcBef>
                          <a:spcPts val="1950"/>
                        </a:spcBef>
                      </a:pPr>
                      <a:r>
                        <a:rPr sz="2000" b="1" spc="185" dirty="0">
                          <a:solidFill>
                            <a:srgbClr val="236B52"/>
                          </a:solidFill>
                          <a:latin typeface="Trebuchet MS"/>
                          <a:cs typeface="Trebuchet MS"/>
                        </a:rPr>
                        <a:t>05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ts val="2370"/>
                        </a:lnSpc>
                        <a:spcBef>
                          <a:spcPts val="1950"/>
                        </a:spcBef>
                      </a:pPr>
                      <a:r>
                        <a:rPr sz="2000" b="1" spc="240" dirty="0">
                          <a:solidFill>
                            <a:srgbClr val="162A28"/>
                          </a:solidFill>
                          <a:latin typeface="Trebuchet MS"/>
                          <a:cs typeface="Trebuchet MS"/>
                        </a:rPr>
                        <a:t>Проверка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47650" marB="0">
                    <a:lnT w="12700">
                      <a:solidFill>
                        <a:srgbClr val="D8DDD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13765">
                        <a:lnSpc>
                          <a:spcPct val="100000"/>
                        </a:lnSpc>
                      </a:pPr>
                      <a:r>
                        <a:rPr sz="1800" spc="114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Успех</a:t>
                      </a:r>
                      <a:r>
                        <a:rPr sz="1800" spc="3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40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и</a:t>
                      </a:r>
                      <a:r>
                        <a:rPr sz="1800" spc="3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5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нехватка</a:t>
                      </a:r>
                      <a:r>
                        <a:rPr sz="1800" spc="3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65" dirty="0">
                          <a:solidFill>
                            <a:srgbClr val="697772"/>
                          </a:solidFill>
                          <a:latin typeface="Trebuchet MS"/>
                          <a:cs typeface="Trebuchet MS"/>
                        </a:rPr>
                        <a:t>опыта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10160" marB="0">
                    <a:lnT w="12700">
                      <a:solidFill>
                        <a:srgbClr val="D8DDD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384300" y="6000750"/>
            <a:ext cx="11734800" cy="12700"/>
          </a:xfrm>
          <a:custGeom>
            <a:avLst/>
            <a:gdLst/>
            <a:ahLst/>
            <a:cxnLst/>
            <a:rect l="l" t="t" r="r" b="b"/>
            <a:pathLst>
              <a:path w="11734800" h="12700">
                <a:moveTo>
                  <a:pt x="0" y="12700"/>
                </a:moveTo>
                <a:lnTo>
                  <a:pt x="11734800" y="12700"/>
                </a:lnTo>
                <a:lnTo>
                  <a:pt x="1173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8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ru-RU" spc="75" dirty="0"/>
              <a:t>О</a:t>
            </a:r>
            <a:r>
              <a:rPr spc="75" dirty="0"/>
              <a:t>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03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381000"/>
            <a:ext cx="137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03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95" dirty="0">
                <a:solidFill>
                  <a:srgbClr val="697772"/>
                </a:solidFill>
                <a:latin typeface="Trebuchet MS"/>
                <a:cs typeface="Trebuchet MS"/>
              </a:rPr>
              <a:t>МОДЕЛЬ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697772"/>
                </a:solidFill>
                <a:latin typeface="Trebuchet MS"/>
                <a:cs typeface="Trebuchet MS"/>
              </a:rPr>
              <a:t>СРЕДЫ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5" dirty="0">
                <a:solidFill>
                  <a:srgbClr val="162A28"/>
                </a:solidFill>
              </a:rPr>
              <a:t>Лабиринт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335" dirty="0">
                <a:solidFill>
                  <a:srgbClr val="162A28"/>
                </a:solidFill>
              </a:rPr>
              <a:t>хранится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455" dirty="0">
                <a:solidFill>
                  <a:srgbClr val="162A28"/>
                </a:solidFill>
              </a:rPr>
              <a:t>как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350" dirty="0">
                <a:solidFill>
                  <a:srgbClr val="162A28"/>
                </a:solidFill>
              </a:rPr>
              <a:t>сетка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66935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80" dirty="0">
                <a:solidFill>
                  <a:srgbClr val="697772"/>
                </a:solidFill>
                <a:latin typeface="Trebuchet MS"/>
                <a:cs typeface="Trebuchet MS"/>
              </a:rPr>
              <a:t>Тип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клетки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определяет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допустимость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перехода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и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результат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действия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" y="2607310"/>
            <a:ext cx="386842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3500"/>
              </a:lnSpc>
              <a:spcBef>
                <a:spcPts val="100"/>
              </a:spcBef>
            </a:pPr>
            <a:r>
              <a:rPr sz="1900" spc="160" dirty="0">
                <a:solidFill>
                  <a:srgbClr val="162A28"/>
                </a:solidFill>
                <a:latin typeface="Trebuchet MS"/>
                <a:cs typeface="Trebuchet MS"/>
              </a:rPr>
              <a:t>Maze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490" dirty="0">
                <a:solidFill>
                  <a:srgbClr val="162A28"/>
                </a:solidFill>
                <a:latin typeface="Trebuchet MS"/>
                <a:cs typeface="Trebuchet MS"/>
              </a:rPr>
              <a:t>—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70" dirty="0">
                <a:solidFill>
                  <a:srgbClr val="162A28"/>
                </a:solidFill>
                <a:latin typeface="Trebuchet MS"/>
                <a:cs typeface="Trebuchet MS"/>
              </a:rPr>
              <a:t>структура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25" dirty="0">
                <a:solidFill>
                  <a:srgbClr val="162A28"/>
                </a:solidFill>
                <a:latin typeface="Trebuchet MS"/>
                <a:cs typeface="Trebuchet MS"/>
              </a:rPr>
              <a:t>лабиринта. </a:t>
            </a:r>
            <a:r>
              <a:rPr sz="1900" spc="55" dirty="0">
                <a:solidFill>
                  <a:srgbClr val="162A28"/>
                </a:solidFill>
                <a:latin typeface="Trebuchet MS"/>
                <a:cs typeface="Trebuchet MS"/>
              </a:rPr>
              <a:t>Cell</a:t>
            </a:r>
            <a:r>
              <a:rPr sz="19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490" dirty="0">
                <a:solidFill>
                  <a:srgbClr val="162A28"/>
                </a:solidFill>
                <a:latin typeface="Trebuchet MS"/>
                <a:cs typeface="Trebuchet MS"/>
              </a:rPr>
              <a:t>—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60" dirty="0">
                <a:solidFill>
                  <a:srgbClr val="162A28"/>
                </a:solidFill>
                <a:latin typeface="Trebuchet MS"/>
                <a:cs typeface="Trebuchet MS"/>
              </a:rPr>
              <a:t>отдельная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20" dirty="0">
                <a:solidFill>
                  <a:srgbClr val="162A28"/>
                </a:solidFill>
                <a:latin typeface="Trebuchet MS"/>
                <a:cs typeface="Trebuchet MS"/>
              </a:rPr>
              <a:t>клетка.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900" spc="90" dirty="0">
                <a:solidFill>
                  <a:srgbClr val="162A28"/>
                </a:solidFill>
                <a:latin typeface="Trebuchet MS"/>
                <a:cs typeface="Trebuchet MS"/>
              </a:rPr>
              <a:t>CellType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490" dirty="0">
                <a:solidFill>
                  <a:srgbClr val="162A28"/>
                </a:solidFill>
                <a:latin typeface="Trebuchet MS"/>
                <a:cs typeface="Trebuchet MS"/>
              </a:rPr>
              <a:t>—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20" dirty="0">
                <a:solidFill>
                  <a:srgbClr val="162A28"/>
                </a:solidFill>
                <a:latin typeface="Trebuchet MS"/>
                <a:cs typeface="Trebuchet MS"/>
              </a:rPr>
              <a:t>её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14" dirty="0">
                <a:solidFill>
                  <a:srgbClr val="162A28"/>
                </a:solidFill>
                <a:latin typeface="Trebuchet MS"/>
                <a:cs typeface="Trebuchet MS"/>
              </a:rPr>
              <a:t>содержимое.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8800" y="4667250"/>
            <a:ext cx="5588000" cy="1143000"/>
          </a:xfrm>
          <a:custGeom>
            <a:avLst/>
            <a:gdLst/>
            <a:ahLst/>
            <a:cxnLst/>
            <a:rect l="l" t="t" r="r" b="b"/>
            <a:pathLst>
              <a:path w="5588000" h="1143000">
                <a:moveTo>
                  <a:pt x="5461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016000"/>
                </a:lnTo>
                <a:lnTo>
                  <a:pt x="9971" y="1065461"/>
                </a:lnTo>
                <a:lnTo>
                  <a:pt x="37172" y="1105827"/>
                </a:lnTo>
                <a:lnTo>
                  <a:pt x="77538" y="1133028"/>
                </a:lnTo>
                <a:lnTo>
                  <a:pt x="127000" y="1143000"/>
                </a:lnTo>
                <a:lnTo>
                  <a:pt x="5461000" y="1143000"/>
                </a:lnTo>
                <a:lnTo>
                  <a:pt x="5510461" y="1133028"/>
                </a:lnTo>
                <a:lnTo>
                  <a:pt x="5550827" y="1105827"/>
                </a:lnTo>
                <a:lnTo>
                  <a:pt x="5578028" y="1065461"/>
                </a:lnTo>
                <a:lnTo>
                  <a:pt x="5588000" y="1016000"/>
                </a:lnTo>
                <a:lnTo>
                  <a:pt x="5588000" y="127000"/>
                </a:lnTo>
                <a:lnTo>
                  <a:pt x="5578028" y="77538"/>
                </a:lnTo>
                <a:lnTo>
                  <a:pt x="5550827" y="37172"/>
                </a:lnTo>
                <a:lnTo>
                  <a:pt x="5510461" y="9971"/>
                </a:lnTo>
                <a:lnTo>
                  <a:pt x="5461000" y="0"/>
                </a:lnTo>
                <a:close/>
              </a:path>
            </a:pathLst>
          </a:custGeom>
          <a:solidFill>
            <a:srgbClr val="DBE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2800" y="4946650"/>
            <a:ext cx="1513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125" dirty="0">
                <a:solidFill>
                  <a:srgbClr val="236B52"/>
                </a:solidFill>
                <a:latin typeface="Trebuchet MS"/>
                <a:cs typeface="Trebuchet MS"/>
              </a:rPr>
              <a:t>ПРОСТОЙ</a:t>
            </a:r>
            <a:r>
              <a:rPr sz="1000" b="1" spc="50" dirty="0">
                <a:solidFill>
                  <a:srgbClr val="236B52"/>
                </a:solidFill>
                <a:latin typeface="Trebuchet MS"/>
                <a:cs typeface="Trebuchet MS"/>
              </a:rPr>
              <a:t> </a:t>
            </a:r>
            <a:r>
              <a:rPr sz="1000" b="1" spc="155" dirty="0">
                <a:solidFill>
                  <a:srgbClr val="236B52"/>
                </a:solidFill>
                <a:latin typeface="Trebuchet MS"/>
                <a:cs typeface="Trebuchet MS"/>
              </a:rPr>
              <a:t>ПРИНЦИП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800" y="5238750"/>
            <a:ext cx="34836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80" dirty="0">
                <a:solidFill>
                  <a:srgbClr val="162A28"/>
                </a:solidFill>
                <a:latin typeface="Trebuchet MS"/>
                <a:cs typeface="Trebuchet MS"/>
              </a:rPr>
              <a:t>Стена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85" dirty="0">
                <a:solidFill>
                  <a:srgbClr val="162A28"/>
                </a:solidFill>
                <a:latin typeface="Trebuchet MS"/>
                <a:cs typeface="Trebuchet MS"/>
              </a:rPr>
              <a:t>запрещает</a:t>
            </a:r>
            <a:r>
              <a:rPr sz="19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900" spc="105" dirty="0">
                <a:solidFill>
                  <a:srgbClr val="162A28"/>
                </a:solidFill>
                <a:latin typeface="Trebuchet MS"/>
                <a:cs typeface="Trebuchet MS"/>
              </a:rPr>
              <a:t>переход.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1000" y="2787650"/>
            <a:ext cx="6413500" cy="3683000"/>
          </a:xfrm>
          <a:custGeom>
            <a:avLst/>
            <a:gdLst/>
            <a:ahLst/>
            <a:cxnLst/>
            <a:rect l="l" t="t" r="r" b="b"/>
            <a:pathLst>
              <a:path w="6413500" h="3683000">
                <a:moveTo>
                  <a:pt x="62611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3530600"/>
                </a:lnTo>
                <a:lnTo>
                  <a:pt x="7761" y="3578800"/>
                </a:lnTo>
                <a:lnTo>
                  <a:pt x="29381" y="3620639"/>
                </a:lnTo>
                <a:lnTo>
                  <a:pt x="62360" y="3653618"/>
                </a:lnTo>
                <a:lnTo>
                  <a:pt x="104199" y="3675238"/>
                </a:lnTo>
                <a:lnTo>
                  <a:pt x="152400" y="3683000"/>
                </a:lnTo>
                <a:lnTo>
                  <a:pt x="6261100" y="3683000"/>
                </a:lnTo>
                <a:lnTo>
                  <a:pt x="6309302" y="3675238"/>
                </a:lnTo>
                <a:lnTo>
                  <a:pt x="6351141" y="3653618"/>
                </a:lnTo>
                <a:lnTo>
                  <a:pt x="6384119" y="3620639"/>
                </a:lnTo>
                <a:lnTo>
                  <a:pt x="6405738" y="3578800"/>
                </a:lnTo>
                <a:lnTo>
                  <a:pt x="6413500" y="3530600"/>
                </a:lnTo>
                <a:lnTo>
                  <a:pt x="6413500" y="152400"/>
                </a:lnTo>
                <a:lnTo>
                  <a:pt x="6405738" y="104199"/>
                </a:lnTo>
                <a:lnTo>
                  <a:pt x="6384119" y="62360"/>
                </a:lnTo>
                <a:lnTo>
                  <a:pt x="6351141" y="29381"/>
                </a:lnTo>
                <a:lnTo>
                  <a:pt x="6309302" y="7761"/>
                </a:lnTo>
                <a:lnTo>
                  <a:pt x="6261100" y="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10400" y="3286760"/>
            <a:ext cx="2553970" cy="2455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20" dirty="0" err="1">
                <a:solidFill>
                  <a:srgbClr val="E4F0E6"/>
                </a:solidFill>
                <a:latin typeface="Trebuchet MS"/>
                <a:cs typeface="Trebuchet MS"/>
              </a:rPr>
              <a:t>enum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CellType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{</a:t>
            </a:r>
            <a:endParaRPr sz="1600" dirty="0">
              <a:latin typeface="Trebuchet MS"/>
              <a:cs typeface="Trebuchet MS"/>
            </a:endParaRPr>
          </a:p>
          <a:p>
            <a:pPr marL="222250" marR="5080">
              <a:lnSpc>
                <a:spcPct val="153800"/>
              </a:lnSpc>
            </a:pP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EMPTY,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WALL,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E4F0E6"/>
                </a:solidFill>
                <a:latin typeface="Trebuchet MS"/>
                <a:cs typeface="Trebuchet MS"/>
              </a:rPr>
              <a:t>WATER, </a:t>
            </a:r>
            <a:r>
              <a:rPr sz="1600" spc="75" dirty="0">
                <a:solidFill>
                  <a:srgbClr val="E4F0E6"/>
                </a:solidFill>
                <a:latin typeface="Trebuchet MS"/>
                <a:cs typeface="Trebuchet MS"/>
              </a:rPr>
              <a:t>LIGHTNING,</a:t>
            </a:r>
            <a:r>
              <a:rPr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100" dirty="0">
                <a:solidFill>
                  <a:srgbClr val="E4F0E6"/>
                </a:solidFill>
                <a:latin typeface="Trebuchet MS"/>
                <a:cs typeface="Trebuchet MS"/>
              </a:rPr>
              <a:t>CHEESE,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E4F0E6"/>
                </a:solidFill>
                <a:latin typeface="Trebuchet MS"/>
                <a:cs typeface="Trebuchet MS"/>
              </a:rPr>
              <a:t>START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}</a:t>
            </a:r>
            <a:endParaRPr lang="ru-RU" sz="1600" spc="300" dirty="0">
              <a:solidFill>
                <a:srgbClr val="E4F0E6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lang="en-US" sz="1600" dirty="0">
                <a:solidFill>
                  <a:srgbClr val="E4F0E6"/>
                </a:solidFill>
                <a:latin typeface="Trebuchet MS"/>
                <a:cs typeface="Trebuchet MS"/>
              </a:rPr>
              <a:t>Cell[][]</a:t>
            </a:r>
            <a:r>
              <a:rPr lang="en-US" sz="1600" spc="28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dirty="0">
                <a:solidFill>
                  <a:srgbClr val="E4F0E6"/>
                </a:solidFill>
                <a:latin typeface="Trebuchet MS"/>
                <a:cs typeface="Trebuchet MS"/>
              </a:rPr>
              <a:t>cells</a:t>
            </a:r>
            <a:r>
              <a:rPr lang="en-US" sz="1600" spc="28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34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endParaRPr lang="en-US" sz="16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lang="en-US" sz="1600" spc="95" dirty="0">
                <a:solidFill>
                  <a:srgbClr val="E4F0E6"/>
                </a:solidFill>
                <a:latin typeface="Trebuchet MS"/>
                <a:cs typeface="Trebuchet MS"/>
              </a:rPr>
              <a:t>new</a:t>
            </a:r>
            <a:r>
              <a:rPr lang="en-US" sz="1600" spc="254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-10" dirty="0">
                <a:solidFill>
                  <a:srgbClr val="E4F0E6"/>
                </a:solidFill>
                <a:latin typeface="Trebuchet MS"/>
                <a:cs typeface="Trebuchet MS"/>
              </a:rPr>
              <a:t>Cell[height][width];</a:t>
            </a:r>
            <a:endParaRPr lang="en-US" sz="1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04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6900" y="346075"/>
            <a:ext cx="166941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04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СОСТОЯНИЕ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697772"/>
                </a:solidFill>
                <a:latin typeface="Trebuchet MS"/>
                <a:cs typeface="Trebuchet MS"/>
              </a:rPr>
              <a:t>АГЕНТА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30" dirty="0">
                <a:solidFill>
                  <a:srgbClr val="162A28"/>
                </a:solidFill>
              </a:rPr>
              <a:t>Координат</a:t>
            </a:r>
            <a:r>
              <a:rPr spc="170" dirty="0">
                <a:solidFill>
                  <a:srgbClr val="162A28"/>
                </a:solidFill>
              </a:rPr>
              <a:t> </a:t>
            </a:r>
            <a:r>
              <a:rPr spc="365" dirty="0">
                <a:solidFill>
                  <a:srgbClr val="162A28"/>
                </a:solidFill>
              </a:rPr>
              <a:t>недостаточно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3566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40" dirty="0">
                <a:solidFill>
                  <a:srgbClr val="697772"/>
                </a:solidFill>
                <a:latin typeface="Trebuchet MS"/>
                <a:cs typeface="Trebuchet MS"/>
              </a:rPr>
              <a:t>Нужно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знать,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какая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вода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50" dirty="0">
                <a:solidFill>
                  <a:srgbClr val="697772"/>
                </a:solidFill>
                <a:latin typeface="Trebuchet MS"/>
                <a:cs typeface="Trebuchet MS"/>
              </a:rPr>
              <a:t>уже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выпита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2698750"/>
            <a:ext cx="4100195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2000" spc="204" dirty="0">
                <a:solidFill>
                  <a:srgbClr val="162A28"/>
                </a:solidFill>
                <a:latin typeface="Trebuchet MS"/>
                <a:cs typeface="Trebuchet MS"/>
              </a:rPr>
              <a:t>Одна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75" dirty="0">
                <a:solidFill>
                  <a:srgbClr val="162A28"/>
                </a:solidFill>
                <a:latin typeface="Trebuchet MS"/>
                <a:cs typeface="Trebuchet MS"/>
              </a:rPr>
              <a:t>клетка</a:t>
            </a:r>
            <a:r>
              <a:rPr sz="20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75" dirty="0">
                <a:solidFill>
                  <a:srgbClr val="162A28"/>
                </a:solidFill>
                <a:latin typeface="Trebuchet MS"/>
                <a:cs typeface="Trebuchet MS"/>
              </a:rPr>
              <a:t>до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55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20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40" dirty="0">
                <a:solidFill>
                  <a:srgbClr val="162A28"/>
                </a:solidFill>
                <a:latin typeface="Trebuchet MS"/>
                <a:cs typeface="Trebuchet MS"/>
              </a:rPr>
              <a:t>после</a:t>
            </a:r>
            <a:r>
              <a:rPr sz="20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25" dirty="0">
                <a:solidFill>
                  <a:srgbClr val="162A28"/>
                </a:solidFill>
                <a:latin typeface="Trebuchet MS"/>
                <a:cs typeface="Trebuchet MS"/>
              </a:rPr>
              <a:t>сбора </a:t>
            </a:r>
            <a:r>
              <a:rPr sz="2000" spc="170" dirty="0">
                <a:solidFill>
                  <a:srgbClr val="162A28"/>
                </a:solidFill>
                <a:latin typeface="Trebuchet MS"/>
                <a:cs typeface="Trebuchet MS"/>
              </a:rPr>
              <a:t>воды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515" dirty="0">
                <a:solidFill>
                  <a:srgbClr val="162A28"/>
                </a:solidFill>
                <a:latin typeface="Trebuchet MS"/>
                <a:cs typeface="Trebuchet MS"/>
              </a:rPr>
              <a:t>—</a:t>
            </a:r>
            <a:r>
              <a:rPr sz="20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65" dirty="0">
                <a:solidFill>
                  <a:srgbClr val="162A28"/>
                </a:solidFill>
                <a:latin typeface="Trebuchet MS"/>
                <a:cs typeface="Trebuchet MS"/>
              </a:rPr>
              <a:t>разные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162A28"/>
                </a:solidFill>
                <a:latin typeface="Trebuchet MS"/>
                <a:cs typeface="Trebuchet MS"/>
              </a:rPr>
              <a:t>состояния.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31000" y="2787650"/>
            <a:ext cx="5613400" cy="3162300"/>
          </a:xfrm>
          <a:custGeom>
            <a:avLst/>
            <a:gdLst/>
            <a:ahLst/>
            <a:cxnLst/>
            <a:rect l="l" t="t" r="r" b="b"/>
            <a:pathLst>
              <a:path w="6413500" h="3683000">
                <a:moveTo>
                  <a:pt x="62611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3530600"/>
                </a:lnTo>
                <a:lnTo>
                  <a:pt x="7761" y="3578800"/>
                </a:lnTo>
                <a:lnTo>
                  <a:pt x="29381" y="3620639"/>
                </a:lnTo>
                <a:lnTo>
                  <a:pt x="62360" y="3653618"/>
                </a:lnTo>
                <a:lnTo>
                  <a:pt x="104199" y="3675238"/>
                </a:lnTo>
                <a:lnTo>
                  <a:pt x="152400" y="3683000"/>
                </a:lnTo>
                <a:lnTo>
                  <a:pt x="6261100" y="3683000"/>
                </a:lnTo>
                <a:lnTo>
                  <a:pt x="6309302" y="3675238"/>
                </a:lnTo>
                <a:lnTo>
                  <a:pt x="6351141" y="3653618"/>
                </a:lnTo>
                <a:lnTo>
                  <a:pt x="6384119" y="3620639"/>
                </a:lnTo>
                <a:lnTo>
                  <a:pt x="6405738" y="3578800"/>
                </a:lnTo>
                <a:lnTo>
                  <a:pt x="6413500" y="3530600"/>
                </a:lnTo>
                <a:lnTo>
                  <a:pt x="6413500" y="152400"/>
                </a:lnTo>
                <a:lnTo>
                  <a:pt x="6405738" y="104199"/>
                </a:lnTo>
                <a:lnTo>
                  <a:pt x="6384119" y="62360"/>
                </a:lnTo>
                <a:lnTo>
                  <a:pt x="6351141" y="29381"/>
                </a:lnTo>
                <a:lnTo>
                  <a:pt x="6309302" y="7761"/>
                </a:lnTo>
                <a:lnTo>
                  <a:pt x="6261100" y="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10400" y="3041650"/>
            <a:ext cx="2590800" cy="2527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280" algn="l"/>
                <a:tab pos="711200" algn="l"/>
              </a:tabLst>
            </a:pP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 dirty="0">
              <a:latin typeface="Trebuchet MS"/>
              <a:cs typeface="Trebuchet MS"/>
            </a:endParaRPr>
          </a:p>
          <a:p>
            <a:pPr marL="222250" marR="895985" indent="-210185">
              <a:lnSpc>
                <a:spcPct val="153800"/>
              </a:lnSpc>
            </a:pPr>
            <a:r>
              <a:rPr sz="2000" spc="85" dirty="0">
                <a:solidFill>
                  <a:srgbClr val="E4F0E6"/>
                </a:solidFill>
                <a:latin typeface="Trebuchet MS"/>
                <a:cs typeface="Trebuchet MS"/>
              </a:rPr>
              <a:t>class</a:t>
            </a:r>
            <a:r>
              <a:rPr sz="20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E4F0E6"/>
                </a:solidFill>
                <a:latin typeface="Trebuchet MS"/>
                <a:cs typeface="Trebuchet MS"/>
              </a:rPr>
              <a:t>State</a:t>
            </a:r>
            <a:r>
              <a:rPr sz="20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2000" spc="300" dirty="0">
                <a:solidFill>
                  <a:srgbClr val="E4F0E6"/>
                </a:solidFill>
                <a:latin typeface="Trebuchet MS"/>
                <a:cs typeface="Trebuchet MS"/>
              </a:rPr>
              <a:t>{ </a:t>
            </a:r>
            <a:r>
              <a:rPr sz="2000" dirty="0">
                <a:solidFill>
                  <a:srgbClr val="E4F0E6"/>
                </a:solidFill>
                <a:latin typeface="Trebuchet MS"/>
                <a:cs typeface="Trebuchet MS"/>
              </a:rPr>
              <a:t>int</a:t>
            </a:r>
            <a:r>
              <a:rPr sz="2000" spc="10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E4F0E6"/>
                </a:solidFill>
                <a:latin typeface="Trebuchet MS"/>
                <a:cs typeface="Trebuchet MS"/>
              </a:rPr>
              <a:t>x;</a:t>
            </a:r>
            <a:endParaRPr sz="20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solidFill>
                  <a:srgbClr val="E4F0E6"/>
                </a:solidFill>
                <a:latin typeface="Trebuchet MS"/>
                <a:cs typeface="Trebuchet MS"/>
              </a:rPr>
              <a:t>int</a:t>
            </a:r>
            <a:r>
              <a:rPr sz="2000" spc="10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E4F0E6"/>
                </a:solidFill>
                <a:latin typeface="Trebuchet MS"/>
                <a:cs typeface="Trebuchet MS"/>
              </a:rPr>
              <a:t>y;</a:t>
            </a:r>
            <a:endParaRPr sz="20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solidFill>
                  <a:srgbClr val="E4F0E6"/>
                </a:solidFill>
                <a:latin typeface="Trebuchet MS"/>
                <a:cs typeface="Trebuchet MS"/>
              </a:rPr>
              <a:t>int</a:t>
            </a:r>
            <a:r>
              <a:rPr sz="2000" spc="10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E4F0E6"/>
                </a:solidFill>
                <a:latin typeface="Trebuchet MS"/>
                <a:cs typeface="Trebuchet MS"/>
              </a:rPr>
              <a:t>waterMask;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000" spc="300" dirty="0">
                <a:solidFill>
                  <a:srgbClr val="E4F0E6"/>
                </a:solidFill>
                <a:latin typeface="Trebuchet MS"/>
                <a:cs typeface="Trebuchet MS"/>
              </a:rPr>
              <a:t>}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900" y="4311650"/>
            <a:ext cx="688340" cy="165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235" dirty="0">
                <a:solidFill>
                  <a:srgbClr val="236B52"/>
                </a:solidFill>
                <a:latin typeface="Trebuchet MS"/>
                <a:cs typeface="Trebuchet MS"/>
              </a:rPr>
              <a:t>000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500" b="1" spc="235" dirty="0">
                <a:solidFill>
                  <a:srgbClr val="236B52"/>
                </a:solidFill>
                <a:latin typeface="Trebuchet MS"/>
                <a:cs typeface="Trebuchet MS"/>
              </a:rPr>
              <a:t>101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500" b="1" spc="235" dirty="0">
                <a:solidFill>
                  <a:srgbClr val="236B52"/>
                </a:solidFill>
                <a:latin typeface="Trebuchet MS"/>
                <a:cs typeface="Trebuchet MS"/>
              </a:rPr>
              <a:t>111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3400" y="4375150"/>
            <a:ext cx="192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5" dirty="0">
                <a:solidFill>
                  <a:srgbClr val="162A28"/>
                </a:solidFill>
                <a:latin typeface="Trebuchet MS"/>
                <a:cs typeface="Trebuchet MS"/>
              </a:rPr>
              <a:t>Вода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40" dirty="0">
                <a:solidFill>
                  <a:srgbClr val="162A28"/>
                </a:solidFill>
                <a:latin typeface="Trebuchet MS"/>
                <a:cs typeface="Trebuchet MS"/>
              </a:rPr>
              <a:t>не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162A28"/>
                </a:solidFill>
                <a:latin typeface="Trebuchet MS"/>
                <a:cs typeface="Trebuchet MS"/>
              </a:rPr>
              <a:t>собрана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3400" y="4997450"/>
            <a:ext cx="19037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35" dirty="0">
                <a:solidFill>
                  <a:srgbClr val="162A28"/>
                </a:solidFill>
                <a:latin typeface="Trebuchet MS"/>
                <a:cs typeface="Trebuchet MS"/>
              </a:rPr>
              <a:t>Первая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45" dirty="0">
                <a:solidFill>
                  <a:srgbClr val="162A28"/>
                </a:solidFill>
                <a:latin typeface="Trebuchet MS"/>
                <a:cs typeface="Trebuchet MS"/>
              </a:rPr>
              <a:t>третья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3400" y="5619750"/>
            <a:ext cx="2038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45" dirty="0">
                <a:solidFill>
                  <a:srgbClr val="162A28"/>
                </a:solidFill>
                <a:latin typeface="Trebuchet MS"/>
                <a:cs typeface="Trebuchet MS"/>
              </a:rPr>
              <a:t>Собрана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0" dirty="0">
                <a:solidFill>
                  <a:srgbClr val="162A28"/>
                </a:solidFill>
                <a:latin typeface="Trebuchet MS"/>
                <a:cs typeface="Trebuchet MS"/>
              </a:rPr>
              <a:t>вся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162A28"/>
                </a:solidFill>
                <a:latin typeface="Trebuchet MS"/>
                <a:cs typeface="Trebuchet MS"/>
              </a:rPr>
              <a:t>вода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05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2925" y="336550"/>
            <a:ext cx="1080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05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90" dirty="0">
                <a:solidFill>
                  <a:srgbClr val="697772"/>
                </a:solidFill>
                <a:latin typeface="Trebuchet MS"/>
                <a:cs typeface="Trebuchet MS"/>
              </a:rPr>
              <a:t>ДВИЖЕНИЕ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30" dirty="0">
                <a:solidFill>
                  <a:srgbClr val="162A28"/>
                </a:solidFill>
              </a:rPr>
              <a:t>Каждый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525" dirty="0">
                <a:solidFill>
                  <a:srgbClr val="162A28"/>
                </a:solidFill>
              </a:rPr>
              <a:t>шаг</a:t>
            </a:r>
            <a:r>
              <a:rPr spc="170" dirty="0">
                <a:solidFill>
                  <a:srgbClr val="162A28"/>
                </a:solidFill>
              </a:rPr>
              <a:t> </a:t>
            </a:r>
            <a:r>
              <a:rPr spc="900" dirty="0">
                <a:solidFill>
                  <a:srgbClr val="162A28"/>
                </a:solidFill>
              </a:rPr>
              <a:t>—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295" dirty="0">
                <a:solidFill>
                  <a:srgbClr val="162A28"/>
                </a:solidFill>
              </a:rPr>
              <a:t>в</a:t>
            </a:r>
            <a:r>
              <a:rPr spc="170" dirty="0">
                <a:solidFill>
                  <a:srgbClr val="162A28"/>
                </a:solidFill>
              </a:rPr>
              <a:t> </a:t>
            </a:r>
            <a:r>
              <a:rPr spc="434" dirty="0">
                <a:solidFill>
                  <a:srgbClr val="162A28"/>
                </a:solidFill>
              </a:rPr>
              <a:t>соседнюю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380" dirty="0">
                <a:solidFill>
                  <a:srgbClr val="162A28"/>
                </a:solidFill>
              </a:rPr>
              <a:t>клетку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4813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Без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диагоналей,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30" dirty="0">
                <a:solidFill>
                  <a:srgbClr val="697772"/>
                </a:solidFill>
                <a:latin typeface="Trebuchet MS"/>
                <a:cs typeface="Trebuchet MS"/>
              </a:rPr>
              <a:t>прыжков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и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проходов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697772"/>
                </a:solidFill>
                <a:latin typeface="Trebuchet MS"/>
                <a:cs typeface="Trebuchet MS"/>
              </a:rPr>
              <a:t>через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стены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" y="2800350"/>
            <a:ext cx="386651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85" dirty="0">
                <a:solidFill>
                  <a:srgbClr val="162A28"/>
                </a:solidFill>
                <a:latin typeface="Trebuchet MS"/>
                <a:cs typeface="Trebuchet MS"/>
              </a:rPr>
              <a:t>Выбрать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35" dirty="0">
                <a:solidFill>
                  <a:srgbClr val="162A28"/>
                </a:solidFill>
                <a:latin typeface="Trebuchet MS"/>
                <a:cs typeface="Trebuchet MS"/>
              </a:rPr>
              <a:t>направление.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62500"/>
              </a:lnSpc>
            </a:pPr>
            <a:r>
              <a:rPr sz="2000" spc="160" dirty="0">
                <a:solidFill>
                  <a:srgbClr val="162A28"/>
                </a:solidFill>
                <a:latin typeface="Trebuchet MS"/>
                <a:cs typeface="Trebuchet MS"/>
              </a:rPr>
              <a:t>Проверить</a:t>
            </a:r>
            <a:r>
              <a:rPr sz="20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85" dirty="0">
                <a:solidFill>
                  <a:srgbClr val="162A28"/>
                </a:solidFill>
                <a:latin typeface="Trebuchet MS"/>
                <a:cs typeface="Trebuchet MS"/>
              </a:rPr>
              <a:t>границы</a:t>
            </a:r>
            <a:r>
              <a:rPr sz="20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55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20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162A28"/>
                </a:solidFill>
                <a:latin typeface="Trebuchet MS"/>
                <a:cs typeface="Trebuchet MS"/>
              </a:rPr>
              <a:t>стену. </a:t>
            </a:r>
            <a:r>
              <a:rPr sz="2000" spc="185" dirty="0">
                <a:solidFill>
                  <a:srgbClr val="162A28"/>
                </a:solidFill>
                <a:latin typeface="Trebuchet MS"/>
                <a:cs typeface="Trebuchet MS"/>
              </a:rPr>
              <a:t>Выполнить</a:t>
            </a:r>
            <a:r>
              <a:rPr sz="2000" spc="6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14" dirty="0">
                <a:solidFill>
                  <a:srgbClr val="162A28"/>
                </a:solidFill>
                <a:latin typeface="Trebuchet MS"/>
                <a:cs typeface="Trebuchet MS"/>
              </a:rPr>
              <a:t>переход.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500" y="5302250"/>
            <a:ext cx="4277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25" dirty="0">
                <a:solidFill>
                  <a:srgbClr val="697772"/>
                </a:solidFill>
                <a:latin typeface="Trebuchet MS"/>
                <a:cs typeface="Trebuchet MS"/>
              </a:rPr>
              <a:t>Повторное</a:t>
            </a:r>
            <a:r>
              <a:rPr sz="15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500" spc="120" dirty="0">
                <a:solidFill>
                  <a:srgbClr val="697772"/>
                </a:solidFill>
                <a:latin typeface="Trebuchet MS"/>
                <a:cs typeface="Trebuchet MS"/>
              </a:rPr>
              <a:t>посещение</a:t>
            </a:r>
            <a:r>
              <a:rPr sz="15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500" spc="125" dirty="0">
                <a:solidFill>
                  <a:srgbClr val="697772"/>
                </a:solidFill>
                <a:latin typeface="Trebuchet MS"/>
                <a:cs typeface="Trebuchet MS"/>
              </a:rPr>
              <a:t>клеток</a:t>
            </a:r>
            <a:r>
              <a:rPr sz="15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500" spc="95" dirty="0">
                <a:solidFill>
                  <a:srgbClr val="697772"/>
                </a:solidFill>
                <a:latin typeface="Trebuchet MS"/>
                <a:cs typeface="Trebuchet MS"/>
              </a:rPr>
              <a:t>разрешено.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31000" y="2787650"/>
            <a:ext cx="6413500" cy="3886200"/>
          </a:xfrm>
          <a:custGeom>
            <a:avLst/>
            <a:gdLst/>
            <a:ahLst/>
            <a:cxnLst/>
            <a:rect l="l" t="t" r="r" b="b"/>
            <a:pathLst>
              <a:path w="6413500" h="3886200">
                <a:moveTo>
                  <a:pt x="62611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3733800"/>
                </a:lnTo>
                <a:lnTo>
                  <a:pt x="7761" y="3782000"/>
                </a:lnTo>
                <a:lnTo>
                  <a:pt x="29381" y="3823839"/>
                </a:lnTo>
                <a:lnTo>
                  <a:pt x="62360" y="3856818"/>
                </a:lnTo>
                <a:lnTo>
                  <a:pt x="104199" y="3878438"/>
                </a:lnTo>
                <a:lnTo>
                  <a:pt x="152400" y="3886200"/>
                </a:lnTo>
                <a:lnTo>
                  <a:pt x="6261100" y="3886200"/>
                </a:lnTo>
                <a:lnTo>
                  <a:pt x="6309302" y="3878438"/>
                </a:lnTo>
                <a:lnTo>
                  <a:pt x="6351141" y="3856818"/>
                </a:lnTo>
                <a:lnTo>
                  <a:pt x="6384119" y="3823839"/>
                </a:lnTo>
                <a:lnTo>
                  <a:pt x="6405738" y="3782000"/>
                </a:lnTo>
                <a:lnTo>
                  <a:pt x="6413500" y="3733800"/>
                </a:lnTo>
                <a:lnTo>
                  <a:pt x="6413500" y="152400"/>
                </a:lnTo>
                <a:lnTo>
                  <a:pt x="6405738" y="104199"/>
                </a:lnTo>
                <a:lnTo>
                  <a:pt x="6384119" y="62360"/>
                </a:lnTo>
                <a:lnTo>
                  <a:pt x="6351141" y="29381"/>
                </a:lnTo>
                <a:lnTo>
                  <a:pt x="6309302" y="7761"/>
                </a:lnTo>
                <a:lnTo>
                  <a:pt x="6261100" y="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10400" y="3041650"/>
            <a:ext cx="197358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53365" algn="ctr">
              <a:lnSpc>
                <a:spcPct val="100000"/>
              </a:lnSpc>
            </a:pPr>
            <a:r>
              <a:rPr sz="1400" dirty="0">
                <a:solidFill>
                  <a:srgbClr val="E4F0E6"/>
                </a:solidFill>
                <a:latin typeface="Trebuchet MS"/>
                <a:cs typeface="Trebuchet MS"/>
              </a:rPr>
              <a:t>int[][]</a:t>
            </a:r>
            <a:r>
              <a:rPr sz="1400" spc="10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E4F0E6"/>
                </a:solidFill>
                <a:latin typeface="Trebuchet MS"/>
                <a:cs typeface="Trebuchet MS"/>
              </a:rPr>
              <a:t>directions</a:t>
            </a:r>
            <a:r>
              <a:rPr sz="1400" spc="10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sz="1400" spc="10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290" dirty="0">
                <a:solidFill>
                  <a:srgbClr val="E4F0E6"/>
                </a:solidFill>
                <a:latin typeface="Trebuchet MS"/>
                <a:cs typeface="Trebuchet MS"/>
              </a:rPr>
              <a:t>{</a:t>
            </a:r>
            <a:endParaRPr sz="1400" dirty="0">
              <a:latin typeface="Trebuchet MS"/>
              <a:cs typeface="Trebuchet MS"/>
            </a:endParaRPr>
          </a:p>
          <a:p>
            <a:pPr marR="253365" algn="ctr">
              <a:lnSpc>
                <a:spcPct val="100000"/>
              </a:lnSpc>
              <a:spcBef>
                <a:spcPts val="840"/>
              </a:spcBef>
            </a:pPr>
            <a:r>
              <a:rPr sz="1400" spc="140" dirty="0">
                <a:solidFill>
                  <a:srgbClr val="E4F0E6"/>
                </a:solidFill>
                <a:latin typeface="Trebuchet MS"/>
                <a:cs typeface="Trebuchet MS"/>
              </a:rPr>
              <a:t>{1,</a:t>
            </a:r>
            <a:r>
              <a:rPr sz="14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40" dirty="0">
                <a:solidFill>
                  <a:srgbClr val="E4F0E6"/>
                </a:solidFill>
                <a:latin typeface="Trebuchet MS"/>
                <a:cs typeface="Trebuchet MS"/>
              </a:rPr>
              <a:t>0},</a:t>
            </a:r>
            <a:r>
              <a:rPr sz="14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E4F0E6"/>
                </a:solidFill>
                <a:latin typeface="Trebuchet MS"/>
                <a:cs typeface="Trebuchet MS"/>
              </a:rPr>
              <a:t>{-</a:t>
            </a:r>
            <a:r>
              <a:rPr sz="1400" spc="114" dirty="0">
                <a:solidFill>
                  <a:srgbClr val="E4F0E6"/>
                </a:solidFill>
                <a:latin typeface="Trebuchet MS"/>
                <a:cs typeface="Trebuchet MS"/>
              </a:rPr>
              <a:t>1,</a:t>
            </a:r>
            <a:r>
              <a:rPr sz="14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E4F0E6"/>
                </a:solidFill>
                <a:latin typeface="Trebuchet MS"/>
                <a:cs typeface="Trebuchet MS"/>
              </a:rPr>
              <a:t>0},</a:t>
            </a:r>
            <a:endParaRPr sz="1400" dirty="0">
              <a:latin typeface="Trebuchet MS"/>
              <a:cs typeface="Trebuchet MS"/>
            </a:endParaRPr>
          </a:p>
          <a:p>
            <a:pPr marR="305435" algn="ctr">
              <a:lnSpc>
                <a:spcPct val="100000"/>
              </a:lnSpc>
              <a:spcBef>
                <a:spcPts val="840"/>
              </a:spcBef>
            </a:pPr>
            <a:r>
              <a:rPr sz="1400" spc="140" dirty="0">
                <a:solidFill>
                  <a:srgbClr val="E4F0E6"/>
                </a:solidFill>
                <a:latin typeface="Trebuchet MS"/>
                <a:cs typeface="Trebuchet MS"/>
              </a:rPr>
              <a:t>{0,</a:t>
            </a:r>
            <a:r>
              <a:rPr sz="14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40" dirty="0">
                <a:solidFill>
                  <a:srgbClr val="E4F0E6"/>
                </a:solidFill>
                <a:latin typeface="Trebuchet MS"/>
                <a:cs typeface="Trebuchet MS"/>
              </a:rPr>
              <a:t>1},</a:t>
            </a:r>
            <a:r>
              <a:rPr sz="14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40" dirty="0">
                <a:solidFill>
                  <a:srgbClr val="E4F0E6"/>
                </a:solidFill>
                <a:latin typeface="Trebuchet MS"/>
                <a:cs typeface="Trebuchet MS"/>
              </a:rPr>
              <a:t>{0,</a:t>
            </a:r>
            <a:r>
              <a:rPr sz="14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35" dirty="0">
                <a:solidFill>
                  <a:srgbClr val="E4F0E6"/>
                </a:solidFill>
                <a:latin typeface="Trebuchet MS"/>
                <a:cs typeface="Trebuchet MS"/>
              </a:rPr>
              <a:t>-</a:t>
            </a:r>
            <a:r>
              <a:rPr sz="1400" spc="140" dirty="0">
                <a:solidFill>
                  <a:srgbClr val="E4F0E6"/>
                </a:solidFill>
                <a:latin typeface="Trebuchet MS"/>
                <a:cs typeface="Trebuchet MS"/>
              </a:rPr>
              <a:t>1}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130" dirty="0">
                <a:solidFill>
                  <a:srgbClr val="E4F0E6"/>
                </a:solidFill>
                <a:latin typeface="Trebuchet MS"/>
                <a:cs typeface="Trebuchet MS"/>
              </a:rPr>
              <a:t>};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0400" y="4623879"/>
            <a:ext cx="2165985" cy="1864741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solidFill>
                  <a:srgbClr val="E4F0E6"/>
                </a:solidFill>
                <a:latin typeface="Trebuchet MS"/>
                <a:cs typeface="Trebuchet MS"/>
              </a:rPr>
              <a:t>int</a:t>
            </a:r>
            <a:r>
              <a:rPr sz="1400" spc="5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E4F0E6"/>
                </a:solidFill>
                <a:latin typeface="Trebuchet MS"/>
                <a:cs typeface="Trebuchet MS"/>
              </a:rPr>
              <a:t>nx</a:t>
            </a:r>
            <a:r>
              <a:rPr sz="1400" spc="5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sz="1400" spc="5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E4F0E6"/>
                </a:solidFill>
                <a:latin typeface="Trebuchet MS"/>
                <a:cs typeface="Trebuchet MS"/>
              </a:rPr>
              <a:t>state.x</a:t>
            </a:r>
            <a:endParaRPr sz="1400" dirty="0">
              <a:latin typeface="Trebuchet MS"/>
              <a:cs typeface="Trebuchet MS"/>
            </a:endParaRPr>
          </a:p>
          <a:p>
            <a:pPr marL="12700" marR="5080" indent="209550">
              <a:lnSpc>
                <a:spcPct val="153800"/>
              </a:lnSpc>
            </a:pPr>
            <a:r>
              <a:rPr sz="1400" spc="395" dirty="0">
                <a:solidFill>
                  <a:srgbClr val="E4F0E6"/>
                </a:solidFill>
                <a:latin typeface="Trebuchet MS"/>
                <a:cs typeface="Trebuchet MS"/>
              </a:rPr>
              <a:t>+</a:t>
            </a:r>
            <a:r>
              <a:rPr sz="14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E4F0E6"/>
                </a:solidFill>
                <a:latin typeface="Trebuchet MS"/>
                <a:cs typeface="Trebuchet MS"/>
              </a:rPr>
              <a:t>directions[action][0]; </a:t>
            </a:r>
            <a:r>
              <a:rPr sz="1400" dirty="0">
                <a:solidFill>
                  <a:srgbClr val="E4F0E6"/>
                </a:solidFill>
                <a:latin typeface="Trebuchet MS"/>
                <a:cs typeface="Trebuchet MS"/>
              </a:rPr>
              <a:t>int</a:t>
            </a:r>
            <a:r>
              <a:rPr sz="1400" spc="4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E4F0E6"/>
                </a:solidFill>
                <a:latin typeface="Trebuchet MS"/>
                <a:cs typeface="Trebuchet MS"/>
              </a:rPr>
              <a:t>ny</a:t>
            </a:r>
            <a:r>
              <a:rPr sz="1400" spc="5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sz="1400" spc="5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E4F0E6"/>
                </a:solidFill>
                <a:latin typeface="Trebuchet MS"/>
                <a:cs typeface="Trebuchet MS"/>
              </a:rPr>
              <a:t>state.y</a:t>
            </a:r>
            <a:endParaRPr sz="14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sz="1400" spc="395" dirty="0">
                <a:solidFill>
                  <a:srgbClr val="E4F0E6"/>
                </a:solidFill>
                <a:latin typeface="Trebuchet MS"/>
                <a:cs typeface="Trebuchet MS"/>
              </a:rPr>
              <a:t>+</a:t>
            </a:r>
            <a:r>
              <a:rPr sz="14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E4F0E6"/>
                </a:solidFill>
                <a:latin typeface="Trebuchet MS"/>
                <a:cs typeface="Trebuchet MS"/>
              </a:rPr>
              <a:t>directions[action][1];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06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525780"/>
            <a:ext cx="14827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06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697772"/>
                </a:solidFill>
                <a:latin typeface="Trebuchet MS"/>
                <a:cs typeface="Trebuchet MS"/>
              </a:rPr>
              <a:t>ОБРАТНАЯ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95" dirty="0">
                <a:solidFill>
                  <a:srgbClr val="697772"/>
                </a:solidFill>
                <a:latin typeface="Trebuchet MS"/>
                <a:cs typeface="Trebuchet MS"/>
              </a:rPr>
              <a:t>СВЯЗЬ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100" y="1035050"/>
            <a:ext cx="9881870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459" dirty="0">
                <a:solidFill>
                  <a:srgbClr val="162A28"/>
                </a:solidFill>
                <a:latin typeface="Trebuchet MS"/>
                <a:cs typeface="Trebuchet MS"/>
              </a:rPr>
              <a:t>Награда</a:t>
            </a:r>
            <a:r>
              <a:rPr sz="3400" b="1" spc="16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434" dirty="0">
                <a:solidFill>
                  <a:srgbClr val="162A28"/>
                </a:solidFill>
                <a:latin typeface="Trebuchet MS"/>
                <a:cs typeface="Trebuchet MS"/>
              </a:rPr>
              <a:t>превращает</a:t>
            </a:r>
            <a:r>
              <a:rPr sz="3400" b="1" spc="16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415" dirty="0">
                <a:solidFill>
                  <a:srgbClr val="162A28"/>
                </a:solidFill>
                <a:latin typeface="Trebuchet MS"/>
                <a:cs typeface="Trebuchet MS"/>
              </a:rPr>
              <a:t>движение</a:t>
            </a:r>
            <a:r>
              <a:rPr sz="3400" b="1" spc="16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295" dirty="0">
                <a:solidFill>
                  <a:srgbClr val="162A28"/>
                </a:solidFill>
                <a:latin typeface="Trebuchet MS"/>
                <a:cs typeface="Trebuchet MS"/>
              </a:rPr>
              <a:t>в</a:t>
            </a:r>
            <a:r>
              <a:rPr sz="3400" b="1" spc="16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65" dirty="0">
                <a:solidFill>
                  <a:srgbClr val="162A28"/>
                </a:solidFill>
                <a:latin typeface="Trebuchet MS"/>
                <a:cs typeface="Trebuchet MS"/>
              </a:rPr>
              <a:t>опыт</a:t>
            </a:r>
            <a:endParaRPr sz="34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520"/>
              </a:spcBef>
            </a:pP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Пример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697772"/>
                </a:solidFill>
                <a:latin typeface="Trebuchet MS"/>
                <a:cs typeface="Trebuchet MS"/>
              </a:rPr>
              <a:t>настроек: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бонусы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и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45" dirty="0">
                <a:solidFill>
                  <a:srgbClr val="697772"/>
                </a:solidFill>
                <a:latin typeface="Trebuchet MS"/>
                <a:cs typeface="Trebuchet MS"/>
              </a:rPr>
              <a:t>штрафы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добавляются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к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стоимости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35" dirty="0">
                <a:solidFill>
                  <a:srgbClr val="697772"/>
                </a:solidFill>
                <a:latin typeface="Trebuchet MS"/>
                <a:cs typeface="Trebuchet MS"/>
              </a:rPr>
              <a:t>шага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2825750"/>
            <a:ext cx="2984500" cy="2159000"/>
          </a:xfrm>
          <a:custGeom>
            <a:avLst/>
            <a:gdLst/>
            <a:ahLst/>
            <a:cxnLst/>
            <a:rect l="l" t="t" r="r" b="b"/>
            <a:pathLst>
              <a:path w="2984500" h="2159000">
                <a:moveTo>
                  <a:pt x="2857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2032000"/>
                </a:lnTo>
                <a:lnTo>
                  <a:pt x="9971" y="2081461"/>
                </a:lnTo>
                <a:lnTo>
                  <a:pt x="37172" y="2121827"/>
                </a:lnTo>
                <a:lnTo>
                  <a:pt x="77538" y="2149028"/>
                </a:lnTo>
                <a:lnTo>
                  <a:pt x="127000" y="2159000"/>
                </a:lnTo>
                <a:lnTo>
                  <a:pt x="2857500" y="2159000"/>
                </a:lnTo>
                <a:lnTo>
                  <a:pt x="2906961" y="2149028"/>
                </a:lnTo>
                <a:lnTo>
                  <a:pt x="2947327" y="2121827"/>
                </a:lnTo>
                <a:lnTo>
                  <a:pt x="2974528" y="2081461"/>
                </a:lnTo>
                <a:lnTo>
                  <a:pt x="2984500" y="2032000"/>
                </a:lnTo>
                <a:lnTo>
                  <a:pt x="2984500" y="127000"/>
                </a:lnTo>
                <a:lnTo>
                  <a:pt x="2974528" y="77538"/>
                </a:lnTo>
                <a:lnTo>
                  <a:pt x="2947327" y="37172"/>
                </a:lnTo>
                <a:lnTo>
                  <a:pt x="2906961" y="9971"/>
                </a:lnTo>
                <a:lnTo>
                  <a:pt x="2857500" y="0"/>
                </a:lnTo>
                <a:close/>
              </a:path>
            </a:pathLst>
          </a:custGeom>
          <a:solidFill>
            <a:srgbClr val="E6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7400" y="3282950"/>
            <a:ext cx="149860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445" dirty="0">
                <a:solidFill>
                  <a:srgbClr val="697772"/>
                </a:solidFill>
                <a:latin typeface="Trebuchet MS"/>
                <a:cs typeface="Trebuchet MS"/>
              </a:rPr>
              <a:t>−0,2</a:t>
            </a:r>
            <a:endParaRPr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1600" spc="135" dirty="0">
                <a:solidFill>
                  <a:srgbClr val="162A28"/>
                </a:solidFill>
                <a:latin typeface="Trebuchet MS"/>
                <a:cs typeface="Trebuchet MS"/>
              </a:rPr>
              <a:t>Обычный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55" dirty="0">
                <a:solidFill>
                  <a:srgbClr val="162A28"/>
                </a:solidFill>
                <a:latin typeface="Trebuchet MS"/>
                <a:cs typeface="Trebuchet MS"/>
              </a:rPr>
              <a:t>шаг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59200" y="2825750"/>
            <a:ext cx="2984500" cy="2159000"/>
          </a:xfrm>
          <a:custGeom>
            <a:avLst/>
            <a:gdLst/>
            <a:ahLst/>
            <a:cxnLst/>
            <a:rect l="l" t="t" r="r" b="b"/>
            <a:pathLst>
              <a:path w="2984500" h="2159000">
                <a:moveTo>
                  <a:pt x="2857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2032000"/>
                </a:lnTo>
                <a:lnTo>
                  <a:pt x="9971" y="2081461"/>
                </a:lnTo>
                <a:lnTo>
                  <a:pt x="37172" y="2121827"/>
                </a:lnTo>
                <a:lnTo>
                  <a:pt x="77538" y="2149028"/>
                </a:lnTo>
                <a:lnTo>
                  <a:pt x="127000" y="2159000"/>
                </a:lnTo>
                <a:lnTo>
                  <a:pt x="2857500" y="2159000"/>
                </a:lnTo>
                <a:lnTo>
                  <a:pt x="2906961" y="2149028"/>
                </a:lnTo>
                <a:lnTo>
                  <a:pt x="2947327" y="2121827"/>
                </a:lnTo>
                <a:lnTo>
                  <a:pt x="2974528" y="2081461"/>
                </a:lnTo>
                <a:lnTo>
                  <a:pt x="2984500" y="2032000"/>
                </a:lnTo>
                <a:lnTo>
                  <a:pt x="2984500" y="127000"/>
                </a:lnTo>
                <a:lnTo>
                  <a:pt x="2974528" y="77538"/>
                </a:lnTo>
                <a:lnTo>
                  <a:pt x="2947327" y="37172"/>
                </a:lnTo>
                <a:lnTo>
                  <a:pt x="2906961" y="9971"/>
                </a:lnTo>
                <a:lnTo>
                  <a:pt x="2857500" y="0"/>
                </a:lnTo>
                <a:close/>
              </a:path>
            </a:pathLst>
          </a:custGeom>
          <a:solidFill>
            <a:srgbClr val="E6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87800" y="3282950"/>
            <a:ext cx="124333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85" dirty="0">
                <a:solidFill>
                  <a:srgbClr val="236B52"/>
                </a:solidFill>
                <a:latin typeface="Trebuchet MS"/>
                <a:cs typeface="Trebuchet MS"/>
              </a:rPr>
              <a:t>+20</a:t>
            </a:r>
            <a:endParaRPr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1600" spc="130" dirty="0">
                <a:solidFill>
                  <a:srgbClr val="162A28"/>
                </a:solidFill>
                <a:latin typeface="Trebuchet MS"/>
                <a:cs typeface="Trebuchet MS"/>
              </a:rPr>
              <a:t>Новая</a:t>
            </a:r>
            <a:r>
              <a:rPr sz="1600" spc="2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вода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59600" y="2825750"/>
            <a:ext cx="2984500" cy="2159000"/>
          </a:xfrm>
          <a:custGeom>
            <a:avLst/>
            <a:gdLst/>
            <a:ahLst/>
            <a:cxnLst/>
            <a:rect l="l" t="t" r="r" b="b"/>
            <a:pathLst>
              <a:path w="2984500" h="2159000">
                <a:moveTo>
                  <a:pt x="2857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2032000"/>
                </a:lnTo>
                <a:lnTo>
                  <a:pt x="9971" y="2081461"/>
                </a:lnTo>
                <a:lnTo>
                  <a:pt x="37172" y="2121827"/>
                </a:lnTo>
                <a:lnTo>
                  <a:pt x="77538" y="2149028"/>
                </a:lnTo>
                <a:lnTo>
                  <a:pt x="127000" y="2159000"/>
                </a:lnTo>
                <a:lnTo>
                  <a:pt x="2857500" y="2159000"/>
                </a:lnTo>
                <a:lnTo>
                  <a:pt x="2906961" y="2149028"/>
                </a:lnTo>
                <a:lnTo>
                  <a:pt x="2947327" y="2121827"/>
                </a:lnTo>
                <a:lnTo>
                  <a:pt x="2974528" y="2081461"/>
                </a:lnTo>
                <a:lnTo>
                  <a:pt x="2984500" y="2032000"/>
                </a:lnTo>
                <a:lnTo>
                  <a:pt x="2984500" y="127000"/>
                </a:lnTo>
                <a:lnTo>
                  <a:pt x="2974528" y="77538"/>
                </a:lnTo>
                <a:lnTo>
                  <a:pt x="2947327" y="37172"/>
                </a:lnTo>
                <a:lnTo>
                  <a:pt x="2906961" y="9971"/>
                </a:lnTo>
                <a:lnTo>
                  <a:pt x="2857500" y="0"/>
                </a:lnTo>
                <a:close/>
              </a:path>
            </a:pathLst>
          </a:custGeom>
          <a:solidFill>
            <a:srgbClr val="E6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88200" y="3282950"/>
            <a:ext cx="168656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85" dirty="0">
                <a:solidFill>
                  <a:srgbClr val="DD7749"/>
                </a:solidFill>
                <a:latin typeface="Trebuchet MS"/>
                <a:cs typeface="Trebuchet MS"/>
              </a:rPr>
              <a:t>−50</a:t>
            </a:r>
            <a:endParaRPr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1600" spc="125" dirty="0">
                <a:solidFill>
                  <a:srgbClr val="162A28"/>
                </a:solidFill>
                <a:latin typeface="Trebuchet MS"/>
                <a:cs typeface="Trebuchet MS"/>
              </a:rPr>
              <a:t>Электротравма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160000" y="2825750"/>
            <a:ext cx="2984500" cy="2159000"/>
          </a:xfrm>
          <a:custGeom>
            <a:avLst/>
            <a:gdLst/>
            <a:ahLst/>
            <a:cxnLst/>
            <a:rect l="l" t="t" r="r" b="b"/>
            <a:pathLst>
              <a:path w="2984500" h="2159000">
                <a:moveTo>
                  <a:pt x="28575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2032000"/>
                </a:lnTo>
                <a:lnTo>
                  <a:pt x="9971" y="2081461"/>
                </a:lnTo>
                <a:lnTo>
                  <a:pt x="37172" y="2121827"/>
                </a:lnTo>
                <a:lnTo>
                  <a:pt x="77538" y="2149028"/>
                </a:lnTo>
                <a:lnTo>
                  <a:pt x="127000" y="2159000"/>
                </a:lnTo>
                <a:lnTo>
                  <a:pt x="2857500" y="2159000"/>
                </a:lnTo>
                <a:lnTo>
                  <a:pt x="2906961" y="2149028"/>
                </a:lnTo>
                <a:lnTo>
                  <a:pt x="2947327" y="2121827"/>
                </a:lnTo>
                <a:lnTo>
                  <a:pt x="2974528" y="2081461"/>
                </a:lnTo>
                <a:lnTo>
                  <a:pt x="2984500" y="2032000"/>
                </a:lnTo>
                <a:lnTo>
                  <a:pt x="2984500" y="127000"/>
                </a:lnTo>
                <a:lnTo>
                  <a:pt x="2974528" y="77538"/>
                </a:lnTo>
                <a:lnTo>
                  <a:pt x="2947327" y="37172"/>
                </a:lnTo>
                <a:lnTo>
                  <a:pt x="2906961" y="9971"/>
                </a:lnTo>
                <a:lnTo>
                  <a:pt x="2857500" y="0"/>
                </a:lnTo>
                <a:close/>
              </a:path>
            </a:pathLst>
          </a:custGeom>
          <a:solidFill>
            <a:srgbClr val="E6E8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388600" y="3282950"/>
            <a:ext cx="1755139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40" dirty="0">
                <a:solidFill>
                  <a:srgbClr val="236B52"/>
                </a:solidFill>
                <a:latin typeface="Trebuchet MS"/>
                <a:cs typeface="Trebuchet MS"/>
              </a:rPr>
              <a:t>+100</a:t>
            </a:r>
            <a:endParaRPr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1600" spc="155" dirty="0">
                <a:solidFill>
                  <a:srgbClr val="162A28"/>
                </a:solidFill>
                <a:latin typeface="Trebuchet MS"/>
                <a:cs typeface="Trebuchet MS"/>
              </a:rPr>
              <a:t>Сыр</a:t>
            </a:r>
            <a:r>
              <a:rPr sz="16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0" dirty="0">
                <a:solidFill>
                  <a:srgbClr val="162A28"/>
                </a:solidFill>
                <a:latin typeface="Trebuchet MS"/>
                <a:cs typeface="Trebuchet MS"/>
              </a:rPr>
              <a:t>после</a:t>
            </a:r>
            <a:r>
              <a:rPr sz="16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воды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500" y="5368290"/>
            <a:ext cx="7780020" cy="7112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600" spc="135" dirty="0">
                <a:solidFill>
                  <a:srgbClr val="697772"/>
                </a:solidFill>
                <a:latin typeface="Trebuchet MS"/>
                <a:cs typeface="Trebuchet MS"/>
              </a:rPr>
              <a:t>Повторная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35" dirty="0">
                <a:solidFill>
                  <a:srgbClr val="697772"/>
                </a:solidFill>
                <a:latin typeface="Trebuchet MS"/>
                <a:cs typeface="Trebuchet MS"/>
              </a:rPr>
              <a:t>вода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не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35" dirty="0">
                <a:solidFill>
                  <a:srgbClr val="697772"/>
                </a:solidFill>
                <a:latin typeface="Trebuchet MS"/>
                <a:cs typeface="Trebuchet MS"/>
              </a:rPr>
              <a:t>приносит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697772"/>
                </a:solidFill>
                <a:latin typeface="Trebuchet MS"/>
                <a:cs typeface="Trebuchet MS"/>
              </a:rPr>
              <a:t>нового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697772"/>
                </a:solidFill>
                <a:latin typeface="Trebuchet MS"/>
                <a:cs typeface="Trebuchet MS"/>
              </a:rPr>
              <a:t>бонуса.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600" spc="130" dirty="0">
                <a:solidFill>
                  <a:srgbClr val="697772"/>
                </a:solidFill>
                <a:latin typeface="Trebuchet MS"/>
                <a:cs typeface="Trebuchet MS"/>
              </a:rPr>
              <a:t>Значения</a:t>
            </a:r>
            <a:r>
              <a:rPr sz="16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35" dirty="0">
                <a:solidFill>
                  <a:srgbClr val="697772"/>
                </a:solidFill>
                <a:latin typeface="Trebuchet MS"/>
                <a:cs typeface="Trebuchet MS"/>
              </a:rPr>
              <a:t>приведены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40" dirty="0">
                <a:solidFill>
                  <a:srgbClr val="697772"/>
                </a:solidFill>
                <a:latin typeface="Trebuchet MS"/>
                <a:cs typeface="Trebuchet MS"/>
              </a:rPr>
              <a:t>для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00" dirty="0">
                <a:solidFill>
                  <a:srgbClr val="697772"/>
                </a:solidFill>
                <a:latin typeface="Trebuchet MS"/>
                <a:cs typeface="Trebuchet MS"/>
              </a:rPr>
              <a:t>объяснения;</a:t>
            </a:r>
            <a:r>
              <a:rPr sz="16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697772"/>
                </a:solidFill>
                <a:latin typeface="Trebuchet MS"/>
                <a:cs typeface="Trebuchet MS"/>
              </a:rPr>
              <a:t>их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55" dirty="0">
                <a:solidFill>
                  <a:srgbClr val="697772"/>
                </a:solidFill>
                <a:latin typeface="Trebuchet MS"/>
                <a:cs typeface="Trebuchet MS"/>
              </a:rPr>
              <a:t>нужно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697772"/>
                </a:solidFill>
                <a:latin typeface="Trebuchet MS"/>
                <a:cs typeface="Trebuchet MS"/>
              </a:rPr>
              <a:t>сверить</a:t>
            </a:r>
            <a:r>
              <a:rPr sz="16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697772"/>
                </a:solidFill>
                <a:latin typeface="Trebuchet MS"/>
                <a:cs typeface="Trebuchet MS"/>
              </a:rPr>
              <a:t>с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00" dirty="0">
                <a:solidFill>
                  <a:srgbClr val="697772"/>
                </a:solidFill>
                <a:latin typeface="Trebuchet MS"/>
                <a:cs typeface="Trebuchet MS"/>
              </a:rPr>
              <a:t>программой.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07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8800" y="447887"/>
            <a:ext cx="15252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07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90" dirty="0">
                <a:solidFill>
                  <a:srgbClr val="697772"/>
                </a:solidFill>
                <a:latin typeface="Trebuchet MS"/>
                <a:cs typeface="Trebuchet MS"/>
              </a:rPr>
              <a:t>ВЫБОР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697772"/>
                </a:solidFill>
                <a:latin typeface="Trebuchet MS"/>
                <a:cs typeface="Trebuchet MS"/>
              </a:rPr>
              <a:t>ДЕЙСТВИЯ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100" y="1035050"/>
            <a:ext cx="9478010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380" dirty="0">
                <a:solidFill>
                  <a:srgbClr val="162A28"/>
                </a:solidFill>
                <a:latin typeface="Trebuchet MS"/>
                <a:cs typeface="Trebuchet MS"/>
              </a:rPr>
              <a:t>Исследовать</a:t>
            </a:r>
            <a:r>
              <a:rPr sz="3400" b="1" spc="18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65" dirty="0">
                <a:solidFill>
                  <a:srgbClr val="162A28"/>
                </a:solidFill>
                <a:latin typeface="Trebuchet MS"/>
                <a:cs typeface="Trebuchet MS"/>
              </a:rPr>
              <a:t>или</a:t>
            </a:r>
            <a:r>
              <a:rPr sz="3400" b="1" spc="18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50" dirty="0">
                <a:solidFill>
                  <a:srgbClr val="162A28"/>
                </a:solidFill>
                <a:latin typeface="Trebuchet MS"/>
                <a:cs typeface="Trebuchet MS"/>
              </a:rPr>
              <a:t>использовать</a:t>
            </a:r>
            <a:r>
              <a:rPr sz="3400" b="1" spc="18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3400" b="1" spc="390" dirty="0">
                <a:solidFill>
                  <a:srgbClr val="162A28"/>
                </a:solidFill>
                <a:latin typeface="Trebuchet MS"/>
                <a:cs typeface="Trebuchet MS"/>
              </a:rPr>
              <a:t>опыт?</a:t>
            </a:r>
            <a:endParaRPr sz="34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520"/>
              </a:spcBef>
            </a:pPr>
            <a:r>
              <a:rPr sz="1400" spc="80" dirty="0">
                <a:solidFill>
                  <a:srgbClr val="697772"/>
                </a:solidFill>
                <a:latin typeface="Trebuchet MS"/>
                <a:cs typeface="Trebuchet MS"/>
              </a:rPr>
              <a:t>epsilon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35" dirty="0">
                <a:solidFill>
                  <a:srgbClr val="697772"/>
                </a:solidFill>
                <a:latin typeface="Trebuchet MS"/>
                <a:cs typeface="Trebuchet MS"/>
              </a:rPr>
              <a:t>задаёт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вероятность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случайного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697772"/>
                </a:solidFill>
                <a:latin typeface="Trebuchet MS"/>
                <a:cs typeface="Trebuchet MS"/>
              </a:rPr>
              <a:t>выбора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2813050"/>
            <a:ext cx="5613400" cy="1866900"/>
          </a:xfrm>
          <a:custGeom>
            <a:avLst/>
            <a:gdLst/>
            <a:ahLst/>
            <a:cxnLst/>
            <a:rect l="l" t="t" r="r" b="b"/>
            <a:pathLst>
              <a:path w="5613400" h="1866900">
                <a:moveTo>
                  <a:pt x="54610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1714500"/>
                </a:lnTo>
                <a:lnTo>
                  <a:pt x="7761" y="1762700"/>
                </a:lnTo>
                <a:lnTo>
                  <a:pt x="29381" y="1804539"/>
                </a:lnTo>
                <a:lnTo>
                  <a:pt x="62360" y="1837518"/>
                </a:lnTo>
                <a:lnTo>
                  <a:pt x="104199" y="1859138"/>
                </a:lnTo>
                <a:lnTo>
                  <a:pt x="152400" y="1866900"/>
                </a:lnTo>
                <a:lnTo>
                  <a:pt x="5461000" y="1866900"/>
                </a:lnTo>
                <a:lnTo>
                  <a:pt x="5509200" y="1859138"/>
                </a:lnTo>
                <a:lnTo>
                  <a:pt x="5551039" y="1837518"/>
                </a:lnTo>
                <a:lnTo>
                  <a:pt x="5584018" y="1804539"/>
                </a:lnTo>
                <a:lnTo>
                  <a:pt x="5605638" y="1762700"/>
                </a:lnTo>
                <a:lnTo>
                  <a:pt x="5613400" y="1714500"/>
                </a:lnTo>
                <a:lnTo>
                  <a:pt x="5613400" y="152400"/>
                </a:lnTo>
                <a:lnTo>
                  <a:pt x="5605638" y="104199"/>
                </a:lnTo>
                <a:lnTo>
                  <a:pt x="5584018" y="62360"/>
                </a:lnTo>
                <a:lnTo>
                  <a:pt x="5551039" y="29381"/>
                </a:lnTo>
                <a:lnTo>
                  <a:pt x="5509200" y="7761"/>
                </a:lnTo>
                <a:lnTo>
                  <a:pt x="5461000" y="0"/>
                </a:lnTo>
                <a:close/>
              </a:path>
            </a:pathLst>
          </a:custGeom>
          <a:solidFill>
            <a:srgbClr val="DBE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2800" y="2587836"/>
            <a:ext cx="3307079" cy="1759585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sz="4800" b="1" spc="805" dirty="0">
                <a:solidFill>
                  <a:srgbClr val="236B52"/>
                </a:solidFill>
                <a:latin typeface="Trebuchet MS"/>
                <a:cs typeface="Trebuchet MS"/>
              </a:rPr>
              <a:t>20%</a:t>
            </a:r>
            <a:endParaRPr sz="4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spc="145" dirty="0">
                <a:solidFill>
                  <a:srgbClr val="162A28"/>
                </a:solidFill>
                <a:latin typeface="Trebuchet MS"/>
                <a:cs typeface="Trebuchet MS"/>
              </a:rPr>
              <a:t>вероятность</a:t>
            </a:r>
            <a:r>
              <a:rPr sz="1800" spc="6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162A28"/>
                </a:solidFill>
                <a:latin typeface="Trebuchet MS"/>
                <a:cs typeface="Trebuchet MS"/>
              </a:rPr>
              <a:t>исследования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при</a:t>
            </a:r>
            <a:r>
              <a:rPr sz="14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80" dirty="0">
                <a:solidFill>
                  <a:srgbClr val="697772"/>
                </a:solidFill>
                <a:latin typeface="Trebuchet MS"/>
                <a:cs typeface="Trebuchet MS"/>
              </a:rPr>
              <a:t>epsilon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434" dirty="0">
                <a:solidFill>
                  <a:srgbClr val="697772"/>
                </a:solidFill>
                <a:latin typeface="Trebuchet MS"/>
                <a:cs typeface="Trebuchet MS"/>
              </a:rPr>
              <a:t>=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50" dirty="0">
                <a:solidFill>
                  <a:srgbClr val="697772"/>
                </a:solidFill>
                <a:latin typeface="Trebuchet MS"/>
                <a:cs typeface="Trebuchet MS"/>
              </a:rPr>
              <a:t>0,2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500" y="5002529"/>
            <a:ext cx="433197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300"/>
              </a:lnSpc>
              <a:spcBef>
                <a:spcPts val="100"/>
              </a:spcBef>
            </a:pPr>
            <a:r>
              <a:rPr sz="1700" spc="130" dirty="0">
                <a:solidFill>
                  <a:srgbClr val="162A28"/>
                </a:solidFill>
                <a:latin typeface="Trebuchet MS"/>
                <a:cs typeface="Trebuchet MS"/>
              </a:rPr>
              <a:t>Иначе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35" dirty="0">
                <a:solidFill>
                  <a:srgbClr val="162A28"/>
                </a:solidFill>
                <a:latin typeface="Trebuchet MS"/>
                <a:cs typeface="Trebuchet MS"/>
              </a:rPr>
              <a:t>выбирается</a:t>
            </a:r>
            <a:r>
              <a:rPr sz="17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45" dirty="0">
                <a:solidFill>
                  <a:srgbClr val="162A28"/>
                </a:solidFill>
                <a:latin typeface="Trebuchet MS"/>
                <a:cs typeface="Trebuchet MS"/>
              </a:rPr>
              <a:t>лучшее</a:t>
            </a:r>
            <a:r>
              <a:rPr sz="17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30" dirty="0">
                <a:solidFill>
                  <a:srgbClr val="162A28"/>
                </a:solidFill>
                <a:latin typeface="Trebuchet MS"/>
                <a:cs typeface="Trebuchet MS"/>
              </a:rPr>
              <a:t>доступное </a:t>
            </a:r>
            <a:r>
              <a:rPr sz="1700" spc="135" dirty="0">
                <a:solidFill>
                  <a:srgbClr val="162A28"/>
                </a:solidFill>
                <a:latin typeface="Trebuchet MS"/>
                <a:cs typeface="Trebuchet MS"/>
              </a:rPr>
              <a:t>действие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55" dirty="0">
                <a:solidFill>
                  <a:srgbClr val="162A28"/>
                </a:solidFill>
                <a:latin typeface="Trebuchet MS"/>
                <a:cs typeface="Trebuchet MS"/>
              </a:rPr>
              <a:t>по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60" dirty="0">
                <a:solidFill>
                  <a:srgbClr val="162A28"/>
                </a:solidFill>
                <a:latin typeface="Trebuchet MS"/>
                <a:cs typeface="Trebuchet MS"/>
              </a:rPr>
              <a:t>текущей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162A28"/>
                </a:solidFill>
                <a:latin typeface="Trebuchet MS"/>
                <a:cs typeface="Trebuchet MS"/>
              </a:rPr>
              <a:t>Q-</a:t>
            </a:r>
            <a:r>
              <a:rPr sz="1700" spc="100" dirty="0">
                <a:solidFill>
                  <a:srgbClr val="162A28"/>
                </a:solidFill>
                <a:latin typeface="Trebuchet MS"/>
                <a:cs typeface="Trebuchet MS"/>
              </a:rPr>
              <a:t>таблице.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31000" y="2787650"/>
            <a:ext cx="6413500" cy="3683000"/>
          </a:xfrm>
          <a:custGeom>
            <a:avLst/>
            <a:gdLst/>
            <a:ahLst/>
            <a:cxnLst/>
            <a:rect l="l" t="t" r="r" b="b"/>
            <a:pathLst>
              <a:path w="6413500" h="3683000">
                <a:moveTo>
                  <a:pt x="62611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3530600"/>
                </a:lnTo>
                <a:lnTo>
                  <a:pt x="7761" y="3578800"/>
                </a:lnTo>
                <a:lnTo>
                  <a:pt x="29381" y="3620639"/>
                </a:lnTo>
                <a:lnTo>
                  <a:pt x="62360" y="3653618"/>
                </a:lnTo>
                <a:lnTo>
                  <a:pt x="104199" y="3675238"/>
                </a:lnTo>
                <a:lnTo>
                  <a:pt x="152400" y="3683000"/>
                </a:lnTo>
                <a:lnTo>
                  <a:pt x="6261100" y="3683000"/>
                </a:lnTo>
                <a:lnTo>
                  <a:pt x="6309302" y="3675238"/>
                </a:lnTo>
                <a:lnTo>
                  <a:pt x="6351141" y="3653618"/>
                </a:lnTo>
                <a:lnTo>
                  <a:pt x="6384119" y="3620639"/>
                </a:lnTo>
                <a:lnTo>
                  <a:pt x="6405738" y="3578800"/>
                </a:lnTo>
                <a:lnTo>
                  <a:pt x="6413500" y="3530600"/>
                </a:lnTo>
                <a:lnTo>
                  <a:pt x="6413500" y="152400"/>
                </a:lnTo>
                <a:lnTo>
                  <a:pt x="6405738" y="104199"/>
                </a:lnTo>
                <a:lnTo>
                  <a:pt x="6384119" y="62360"/>
                </a:lnTo>
                <a:lnTo>
                  <a:pt x="6351141" y="29381"/>
                </a:lnTo>
                <a:lnTo>
                  <a:pt x="6309302" y="7761"/>
                </a:lnTo>
                <a:lnTo>
                  <a:pt x="6261100" y="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10400" y="3041650"/>
            <a:ext cx="3077210" cy="3007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 marR="5080" indent="-210185">
              <a:lnSpc>
                <a:spcPct val="153800"/>
              </a:lnSpc>
            </a:pP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if</a:t>
            </a:r>
            <a:r>
              <a:rPr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E4F0E6"/>
                </a:solidFill>
                <a:latin typeface="Trebuchet MS"/>
                <a:cs typeface="Trebuchet MS"/>
              </a:rPr>
              <a:t>(random.nextDouble()</a:t>
            </a:r>
            <a:r>
              <a:rPr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95" dirty="0">
                <a:solidFill>
                  <a:srgbClr val="E4F0E6"/>
                </a:solidFill>
                <a:latin typeface="Trebuchet MS"/>
                <a:cs typeface="Trebuchet MS"/>
              </a:rPr>
              <a:t>&lt;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epsilon)</a:t>
            </a:r>
            <a:r>
              <a:rPr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{ 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action</a:t>
            </a:r>
            <a:r>
              <a:rPr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4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endParaRPr sz="1600" dirty="0">
              <a:latin typeface="Trebuchet MS"/>
              <a:cs typeface="Trebuchet MS"/>
            </a:endParaRPr>
          </a:p>
          <a:p>
            <a:pPr marL="432434">
              <a:lnSpc>
                <a:spcPct val="100000"/>
              </a:lnSpc>
              <a:spcBef>
                <a:spcPts val="840"/>
              </a:spcBef>
            </a:pPr>
            <a:r>
              <a:rPr sz="1600" spc="55" dirty="0">
                <a:solidFill>
                  <a:srgbClr val="E4F0E6"/>
                </a:solidFill>
                <a:latin typeface="Trebuchet MS"/>
                <a:cs typeface="Trebuchet MS"/>
              </a:rPr>
              <a:t>randomAvailableAction(state);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00" spc="350" dirty="0">
                <a:solidFill>
                  <a:srgbClr val="E4F0E6"/>
                </a:solidFill>
                <a:latin typeface="Trebuchet MS"/>
                <a:cs typeface="Trebuchet MS"/>
              </a:rPr>
              <a:t>}</a:t>
            </a:r>
            <a:r>
              <a:rPr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E4F0E6"/>
                </a:solidFill>
                <a:latin typeface="Trebuchet MS"/>
                <a:cs typeface="Trebuchet MS"/>
              </a:rPr>
              <a:t>else</a:t>
            </a:r>
            <a:r>
              <a:rPr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{</a:t>
            </a:r>
            <a:endParaRPr sz="16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action</a:t>
            </a:r>
            <a:r>
              <a:rPr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4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endParaRPr sz="1600" dirty="0">
              <a:latin typeface="Trebuchet MS"/>
              <a:cs typeface="Trebuchet MS"/>
            </a:endParaRPr>
          </a:p>
          <a:p>
            <a:pPr marL="432434">
              <a:lnSpc>
                <a:spcPct val="100000"/>
              </a:lnSpc>
              <a:spcBef>
                <a:spcPts val="840"/>
              </a:spcBef>
            </a:pPr>
            <a:r>
              <a:rPr sz="1600" spc="45" dirty="0">
                <a:solidFill>
                  <a:srgbClr val="E4F0E6"/>
                </a:solidFill>
                <a:latin typeface="Trebuchet MS"/>
                <a:cs typeface="Trebuchet MS"/>
              </a:rPr>
              <a:t>bestAvailableAction(state);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08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1500" y="476250"/>
            <a:ext cx="173926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08</a:t>
            </a:r>
            <a:r>
              <a:rPr sz="10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95" dirty="0">
                <a:solidFill>
                  <a:srgbClr val="697772"/>
                </a:solidFill>
                <a:latin typeface="Trebuchet MS"/>
                <a:cs typeface="Trebuchet MS"/>
              </a:rPr>
              <a:t>ОБНОВЛЕНИЕ</a:t>
            </a:r>
            <a:r>
              <a:rPr sz="10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697772"/>
                </a:solidFill>
                <a:latin typeface="Trebuchet MS"/>
                <a:cs typeface="Trebuchet MS"/>
              </a:rPr>
              <a:t>ОПЫТА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0" dirty="0">
                <a:solidFill>
                  <a:srgbClr val="162A28"/>
                </a:solidFill>
              </a:rPr>
              <a:t>Q-</a:t>
            </a:r>
            <a:r>
              <a:rPr spc="400" dirty="0">
                <a:solidFill>
                  <a:srgbClr val="162A28"/>
                </a:solidFill>
              </a:rPr>
              <a:t>таблица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365" dirty="0">
                <a:solidFill>
                  <a:srgbClr val="162A28"/>
                </a:solidFill>
              </a:rPr>
              <a:t>запоминает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375" dirty="0">
                <a:solidFill>
                  <a:srgbClr val="162A28"/>
                </a:solidFill>
              </a:rPr>
              <a:t>оценки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335" dirty="0">
                <a:solidFill>
                  <a:srgbClr val="162A28"/>
                </a:solidFill>
              </a:rPr>
              <a:t>действий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7159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Текущая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30" dirty="0">
                <a:solidFill>
                  <a:srgbClr val="697772"/>
                </a:solidFill>
                <a:latin typeface="Trebuchet MS"/>
                <a:cs typeface="Trebuchet MS"/>
              </a:rPr>
              <a:t>награда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учитывается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вместе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697772"/>
                </a:solidFill>
                <a:latin typeface="Trebuchet MS"/>
                <a:cs typeface="Trebuchet MS"/>
              </a:rPr>
              <a:t>с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697772"/>
                </a:solidFill>
                <a:latin typeface="Trebuchet MS"/>
                <a:cs typeface="Trebuchet MS"/>
              </a:rPr>
              <a:t>ожидаемым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30" dirty="0">
                <a:solidFill>
                  <a:srgbClr val="697772"/>
                </a:solidFill>
                <a:latin typeface="Trebuchet MS"/>
                <a:cs typeface="Trebuchet MS"/>
              </a:rPr>
              <a:t>будущим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результатом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" y="2813050"/>
            <a:ext cx="400875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5" dirty="0">
                <a:solidFill>
                  <a:srgbClr val="162A28"/>
                </a:solidFill>
                <a:latin typeface="Trebuchet MS"/>
                <a:cs typeface="Trebuchet MS"/>
              </a:rPr>
              <a:t>alpha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450" dirty="0">
                <a:solidFill>
                  <a:srgbClr val="162A28"/>
                </a:solidFill>
                <a:latin typeface="Trebuchet MS"/>
                <a:cs typeface="Trebuchet MS"/>
              </a:rPr>
              <a:t>—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30" dirty="0">
                <a:solidFill>
                  <a:srgbClr val="162A28"/>
                </a:solidFill>
                <a:latin typeface="Trebuchet MS"/>
                <a:cs typeface="Trebuchet MS"/>
              </a:rPr>
              <a:t>скорость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95" dirty="0">
                <a:solidFill>
                  <a:srgbClr val="162A28"/>
                </a:solidFill>
                <a:latin typeface="Trebuchet MS"/>
                <a:cs typeface="Trebuchet MS"/>
              </a:rPr>
              <a:t>обучения.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700" spc="195" dirty="0">
                <a:solidFill>
                  <a:srgbClr val="162A28"/>
                </a:solidFill>
                <a:latin typeface="Trebuchet MS"/>
                <a:cs typeface="Trebuchet MS"/>
              </a:rPr>
              <a:t>gamma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450" dirty="0">
                <a:solidFill>
                  <a:srgbClr val="162A28"/>
                </a:solidFill>
                <a:latin typeface="Trebuchet MS"/>
                <a:cs typeface="Trebuchet MS"/>
              </a:rPr>
              <a:t>—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05" dirty="0">
                <a:solidFill>
                  <a:srgbClr val="162A28"/>
                </a:solidFill>
                <a:latin typeface="Trebuchet MS"/>
                <a:cs typeface="Trebuchet MS"/>
              </a:rPr>
              <a:t>вес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60" dirty="0">
                <a:solidFill>
                  <a:srgbClr val="162A28"/>
                </a:solidFill>
                <a:latin typeface="Trebuchet MS"/>
                <a:cs typeface="Trebuchet MS"/>
              </a:rPr>
              <a:t>будущих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0" dirty="0">
                <a:solidFill>
                  <a:srgbClr val="162A28"/>
                </a:solidFill>
                <a:latin typeface="Trebuchet MS"/>
                <a:cs typeface="Trebuchet MS"/>
              </a:rPr>
              <a:t>наград.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700" spc="200" dirty="0">
                <a:solidFill>
                  <a:srgbClr val="162A28"/>
                </a:solidFill>
                <a:latin typeface="Trebuchet MS"/>
                <a:cs typeface="Trebuchet MS"/>
              </a:rPr>
              <a:t>В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30" dirty="0">
                <a:solidFill>
                  <a:srgbClr val="162A28"/>
                </a:solidFill>
                <a:latin typeface="Trebuchet MS"/>
                <a:cs typeface="Trebuchet MS"/>
              </a:rPr>
              <a:t>конечном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162A28"/>
                </a:solidFill>
                <a:latin typeface="Trebuchet MS"/>
                <a:cs typeface="Trebuchet MS"/>
              </a:rPr>
              <a:t>состоянии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80" dirty="0">
                <a:solidFill>
                  <a:srgbClr val="162A28"/>
                </a:solidFill>
                <a:latin typeface="Trebuchet MS"/>
                <a:cs typeface="Trebuchet MS"/>
              </a:rPr>
              <a:t>futureQ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530" dirty="0">
                <a:solidFill>
                  <a:srgbClr val="162A28"/>
                </a:solidFill>
                <a:latin typeface="Trebuchet MS"/>
                <a:cs typeface="Trebuchet MS"/>
              </a:rPr>
              <a:t>=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25" dirty="0">
                <a:solidFill>
                  <a:srgbClr val="162A28"/>
                </a:solidFill>
                <a:latin typeface="Trebuchet MS"/>
                <a:cs typeface="Trebuchet MS"/>
              </a:rPr>
              <a:t>0.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8800" y="4781550"/>
            <a:ext cx="5626100" cy="1270000"/>
          </a:xfrm>
          <a:custGeom>
            <a:avLst/>
            <a:gdLst/>
            <a:ahLst/>
            <a:cxnLst/>
            <a:rect l="l" t="t" r="r" b="b"/>
            <a:pathLst>
              <a:path w="5626100" h="1270000">
                <a:moveTo>
                  <a:pt x="54991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143000"/>
                </a:lnTo>
                <a:lnTo>
                  <a:pt x="9971" y="1192461"/>
                </a:lnTo>
                <a:lnTo>
                  <a:pt x="37172" y="1232827"/>
                </a:lnTo>
                <a:lnTo>
                  <a:pt x="77538" y="1260028"/>
                </a:lnTo>
                <a:lnTo>
                  <a:pt x="127000" y="1270000"/>
                </a:lnTo>
                <a:lnTo>
                  <a:pt x="5499100" y="1270000"/>
                </a:lnTo>
                <a:lnTo>
                  <a:pt x="5548561" y="1260028"/>
                </a:lnTo>
                <a:lnTo>
                  <a:pt x="5588927" y="1232827"/>
                </a:lnTo>
                <a:lnTo>
                  <a:pt x="5616128" y="1192461"/>
                </a:lnTo>
                <a:lnTo>
                  <a:pt x="5626100" y="1143000"/>
                </a:lnTo>
                <a:lnTo>
                  <a:pt x="5626100" y="127000"/>
                </a:lnTo>
                <a:lnTo>
                  <a:pt x="5616128" y="77538"/>
                </a:lnTo>
                <a:lnTo>
                  <a:pt x="5588927" y="37172"/>
                </a:lnTo>
                <a:lnTo>
                  <a:pt x="5548561" y="9971"/>
                </a:lnTo>
                <a:lnTo>
                  <a:pt x="5499100" y="0"/>
                </a:lnTo>
                <a:close/>
              </a:path>
            </a:pathLst>
          </a:custGeom>
          <a:solidFill>
            <a:srgbClr val="DBE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0100" y="5048250"/>
            <a:ext cx="2476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145" dirty="0">
                <a:solidFill>
                  <a:srgbClr val="236B52"/>
                </a:solidFill>
                <a:latin typeface="Trebuchet MS"/>
                <a:cs typeface="Trebuchet MS"/>
              </a:rPr>
              <a:t>ПРИМЕР:</a:t>
            </a:r>
            <a:r>
              <a:rPr sz="1100" b="1" spc="55" dirty="0">
                <a:solidFill>
                  <a:srgbClr val="236B52"/>
                </a:solidFill>
                <a:latin typeface="Trebuchet MS"/>
                <a:cs typeface="Trebuchet MS"/>
              </a:rPr>
              <a:t> </a:t>
            </a:r>
            <a:r>
              <a:rPr sz="1100" b="1" spc="114" dirty="0">
                <a:solidFill>
                  <a:srgbClr val="236B52"/>
                </a:solidFill>
                <a:latin typeface="Trebuchet MS"/>
                <a:cs typeface="Trebuchet MS"/>
              </a:rPr>
              <a:t>oldQ</a:t>
            </a:r>
            <a:r>
              <a:rPr sz="1100" b="1" spc="60" dirty="0">
                <a:solidFill>
                  <a:srgbClr val="236B52"/>
                </a:solidFill>
                <a:latin typeface="Trebuchet MS"/>
                <a:cs typeface="Trebuchet MS"/>
              </a:rPr>
              <a:t> </a:t>
            </a:r>
            <a:r>
              <a:rPr sz="1100" b="1" spc="265" dirty="0">
                <a:solidFill>
                  <a:srgbClr val="236B52"/>
                </a:solidFill>
                <a:latin typeface="Trebuchet MS"/>
                <a:cs typeface="Trebuchet MS"/>
              </a:rPr>
              <a:t>=</a:t>
            </a:r>
            <a:r>
              <a:rPr sz="1100" b="1" spc="60" dirty="0">
                <a:solidFill>
                  <a:srgbClr val="236B52"/>
                </a:solidFill>
                <a:latin typeface="Trebuchet MS"/>
                <a:cs typeface="Trebuchet MS"/>
              </a:rPr>
              <a:t> 0, </a:t>
            </a:r>
            <a:r>
              <a:rPr sz="1100" b="1" spc="125" dirty="0">
                <a:solidFill>
                  <a:srgbClr val="236B52"/>
                </a:solidFill>
                <a:latin typeface="Trebuchet MS"/>
                <a:cs typeface="Trebuchet MS"/>
              </a:rPr>
              <a:t>alpha</a:t>
            </a:r>
            <a:r>
              <a:rPr sz="1100" b="1" spc="60" dirty="0">
                <a:solidFill>
                  <a:srgbClr val="236B52"/>
                </a:solidFill>
                <a:latin typeface="Trebuchet MS"/>
                <a:cs typeface="Trebuchet MS"/>
              </a:rPr>
              <a:t> </a:t>
            </a:r>
            <a:r>
              <a:rPr sz="1100" b="1" spc="265" dirty="0">
                <a:solidFill>
                  <a:srgbClr val="236B52"/>
                </a:solidFill>
                <a:latin typeface="Trebuchet MS"/>
                <a:cs typeface="Trebuchet MS"/>
              </a:rPr>
              <a:t>=</a:t>
            </a:r>
            <a:r>
              <a:rPr sz="1100" b="1" spc="60" dirty="0">
                <a:solidFill>
                  <a:srgbClr val="236B52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36B52"/>
                </a:solidFill>
                <a:latin typeface="Trebuchet MS"/>
                <a:cs typeface="Trebuchet MS"/>
              </a:rPr>
              <a:t>0,1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0100" y="5441950"/>
            <a:ext cx="346900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20" dirty="0">
                <a:solidFill>
                  <a:srgbClr val="162A28"/>
                </a:solidFill>
                <a:latin typeface="Trebuchet MS"/>
                <a:cs typeface="Trebuchet MS"/>
              </a:rPr>
              <a:t>0</a:t>
            </a:r>
            <a:r>
              <a:rPr sz="20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615" dirty="0">
                <a:solidFill>
                  <a:srgbClr val="162A28"/>
                </a:solidFill>
                <a:latin typeface="Trebuchet MS"/>
                <a:cs typeface="Trebuchet MS"/>
              </a:rPr>
              <a:t>+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162A28"/>
                </a:solidFill>
                <a:latin typeface="Trebuchet MS"/>
                <a:cs typeface="Trebuchet MS"/>
              </a:rPr>
              <a:t>0,1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615" dirty="0">
                <a:solidFill>
                  <a:srgbClr val="162A28"/>
                </a:solidFill>
                <a:latin typeface="Trebuchet MS"/>
                <a:cs typeface="Trebuchet MS"/>
              </a:rPr>
              <a:t>×</a:t>
            </a:r>
            <a:r>
              <a:rPr sz="20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60" dirty="0">
                <a:solidFill>
                  <a:srgbClr val="162A28"/>
                </a:solidFill>
                <a:latin typeface="Trebuchet MS"/>
                <a:cs typeface="Trebuchet MS"/>
              </a:rPr>
              <a:t>(20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615" dirty="0">
                <a:solidFill>
                  <a:srgbClr val="162A28"/>
                </a:solidFill>
                <a:latin typeface="Trebuchet MS"/>
                <a:cs typeface="Trebuchet MS"/>
              </a:rPr>
              <a:t>+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220" dirty="0">
                <a:solidFill>
                  <a:srgbClr val="162A28"/>
                </a:solidFill>
                <a:latin typeface="Trebuchet MS"/>
                <a:cs typeface="Trebuchet MS"/>
              </a:rPr>
              <a:t>0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615" dirty="0">
                <a:solidFill>
                  <a:srgbClr val="162A28"/>
                </a:solidFill>
                <a:latin typeface="Trebuchet MS"/>
                <a:cs typeface="Trebuchet MS"/>
              </a:rPr>
              <a:t>−</a:t>
            </a:r>
            <a:r>
              <a:rPr sz="20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25" dirty="0">
                <a:solidFill>
                  <a:srgbClr val="162A28"/>
                </a:solidFill>
                <a:latin typeface="Trebuchet MS"/>
                <a:cs typeface="Trebuchet MS"/>
              </a:rPr>
              <a:t>0)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615" dirty="0">
                <a:solidFill>
                  <a:srgbClr val="162A28"/>
                </a:solidFill>
                <a:latin typeface="Trebuchet MS"/>
                <a:cs typeface="Trebuchet MS"/>
              </a:rPr>
              <a:t>=</a:t>
            </a:r>
            <a:r>
              <a:rPr sz="20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2000" spc="170" dirty="0">
                <a:solidFill>
                  <a:srgbClr val="162A28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1000" y="2787650"/>
            <a:ext cx="6413500" cy="3683000"/>
          </a:xfrm>
          <a:custGeom>
            <a:avLst/>
            <a:gdLst/>
            <a:ahLst/>
            <a:cxnLst/>
            <a:rect l="l" t="t" r="r" b="b"/>
            <a:pathLst>
              <a:path w="6413500" h="3683000">
                <a:moveTo>
                  <a:pt x="62611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3530600"/>
                </a:lnTo>
                <a:lnTo>
                  <a:pt x="7761" y="3578800"/>
                </a:lnTo>
                <a:lnTo>
                  <a:pt x="29381" y="3620639"/>
                </a:lnTo>
                <a:lnTo>
                  <a:pt x="62360" y="3653618"/>
                </a:lnTo>
                <a:lnTo>
                  <a:pt x="104199" y="3675238"/>
                </a:lnTo>
                <a:lnTo>
                  <a:pt x="152400" y="3683000"/>
                </a:lnTo>
                <a:lnTo>
                  <a:pt x="6261100" y="3683000"/>
                </a:lnTo>
                <a:lnTo>
                  <a:pt x="6309302" y="3675238"/>
                </a:lnTo>
                <a:lnTo>
                  <a:pt x="6351141" y="3653618"/>
                </a:lnTo>
                <a:lnTo>
                  <a:pt x="6384119" y="3620639"/>
                </a:lnTo>
                <a:lnTo>
                  <a:pt x="6405738" y="3578800"/>
                </a:lnTo>
                <a:lnTo>
                  <a:pt x="6413500" y="3530600"/>
                </a:lnTo>
                <a:lnTo>
                  <a:pt x="6413500" y="152400"/>
                </a:lnTo>
                <a:lnTo>
                  <a:pt x="6405738" y="104199"/>
                </a:lnTo>
                <a:lnTo>
                  <a:pt x="6384119" y="62360"/>
                </a:lnTo>
                <a:lnTo>
                  <a:pt x="6351141" y="29381"/>
                </a:lnTo>
                <a:lnTo>
                  <a:pt x="6309302" y="7761"/>
                </a:lnTo>
                <a:lnTo>
                  <a:pt x="6261100" y="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10400" y="3041650"/>
            <a:ext cx="2877820" cy="2731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lang="ru-MD" sz="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70" dirty="0">
                <a:solidFill>
                  <a:srgbClr val="E4F0E6"/>
                </a:solidFill>
                <a:latin typeface="Trebuchet MS"/>
                <a:cs typeface="Trebuchet MS"/>
              </a:rPr>
              <a:t>double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futureQ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sz="1600" spc="3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E4F0E6"/>
                </a:solidFill>
                <a:latin typeface="Trebuchet MS"/>
                <a:cs typeface="Trebuchet MS"/>
              </a:rPr>
              <a:t>terminal</a:t>
            </a:r>
            <a:endParaRPr sz="16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sz="1600" spc="210" dirty="0">
                <a:solidFill>
                  <a:srgbClr val="E4F0E6"/>
                </a:solidFill>
                <a:latin typeface="Trebuchet MS"/>
                <a:cs typeface="Trebuchet MS"/>
              </a:rPr>
              <a:t>?</a:t>
            </a:r>
            <a:r>
              <a:rPr sz="1600" spc="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135" dirty="0">
                <a:solidFill>
                  <a:srgbClr val="E4F0E6"/>
                </a:solidFill>
                <a:latin typeface="Trebuchet MS"/>
                <a:cs typeface="Trebuchet MS"/>
              </a:rPr>
              <a:t>0</a:t>
            </a:r>
            <a:r>
              <a:rPr sz="1600" spc="1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:</a:t>
            </a:r>
            <a:r>
              <a:rPr sz="1600" spc="1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maxAvailableQ(</a:t>
            </a:r>
            <a:r>
              <a:rPr sz="1600" spc="65" dirty="0" err="1">
                <a:solidFill>
                  <a:srgbClr val="E4F0E6"/>
                </a:solidFill>
                <a:latin typeface="Trebuchet MS"/>
                <a:cs typeface="Trebuchet MS"/>
              </a:rPr>
              <a:t>nextState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);</a:t>
            </a:r>
            <a:endParaRPr lang="ru-RU" sz="1600" spc="65" dirty="0">
              <a:solidFill>
                <a:srgbClr val="E4F0E6"/>
              </a:solidFill>
              <a:latin typeface="Trebuchet MS"/>
              <a:cs typeface="Trebuchet MS"/>
            </a:endParaRPr>
          </a:p>
          <a:p>
            <a:pPr marL="222250">
              <a:spcBef>
                <a:spcPts val="840"/>
              </a:spcBef>
            </a:pPr>
            <a:r>
              <a:rPr lang="en-US" sz="1600" spc="70" dirty="0">
                <a:solidFill>
                  <a:srgbClr val="E4F0E6"/>
                </a:solidFill>
                <a:latin typeface="Trebuchet MS"/>
                <a:cs typeface="Trebuchet MS"/>
              </a:rPr>
              <a:t>double</a:t>
            </a:r>
            <a:r>
              <a:rPr lang="en-US" sz="16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105" dirty="0" err="1">
                <a:solidFill>
                  <a:srgbClr val="E4F0E6"/>
                </a:solidFill>
                <a:latin typeface="Trebuchet MS"/>
                <a:cs typeface="Trebuchet MS"/>
              </a:rPr>
              <a:t>newQ</a:t>
            </a:r>
            <a:r>
              <a:rPr lang="en-US"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lang="en-US"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70" dirty="0" err="1">
                <a:solidFill>
                  <a:srgbClr val="E4F0E6"/>
                </a:solidFill>
                <a:latin typeface="Trebuchet MS"/>
                <a:cs typeface="Trebuchet MS"/>
              </a:rPr>
              <a:t>oldQ</a:t>
            </a:r>
            <a:r>
              <a:rPr lang="en-US" sz="16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395" dirty="0">
                <a:solidFill>
                  <a:srgbClr val="E4F0E6"/>
                </a:solidFill>
                <a:latin typeface="Trebuchet MS"/>
                <a:cs typeface="Trebuchet MS"/>
              </a:rPr>
              <a:t>+</a:t>
            </a:r>
            <a:r>
              <a:rPr lang="en-US"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75" dirty="0">
                <a:solidFill>
                  <a:srgbClr val="E4F0E6"/>
                </a:solidFill>
                <a:latin typeface="Trebuchet MS"/>
                <a:cs typeface="Trebuchet MS"/>
              </a:rPr>
              <a:t>alpha</a:t>
            </a:r>
            <a:r>
              <a:rPr lang="en-US" sz="1600" spc="3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120" dirty="0">
                <a:solidFill>
                  <a:srgbClr val="E4F0E6"/>
                </a:solidFill>
                <a:latin typeface="Trebuchet MS"/>
                <a:cs typeface="Trebuchet MS"/>
              </a:rPr>
              <a:t>* </a:t>
            </a:r>
            <a:r>
              <a:rPr lang="en-US" sz="1600" spc="65" dirty="0">
                <a:solidFill>
                  <a:srgbClr val="E4F0E6"/>
                </a:solidFill>
                <a:latin typeface="Trebuchet MS"/>
                <a:cs typeface="Trebuchet MS"/>
              </a:rPr>
              <a:t>(reward</a:t>
            </a:r>
            <a:r>
              <a:rPr lang="en-US"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395" dirty="0">
                <a:solidFill>
                  <a:srgbClr val="E4F0E6"/>
                </a:solidFill>
                <a:latin typeface="Trebuchet MS"/>
                <a:cs typeface="Trebuchet MS"/>
              </a:rPr>
              <a:t>+</a:t>
            </a:r>
            <a:r>
              <a:rPr lang="en-US"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150" dirty="0">
                <a:solidFill>
                  <a:srgbClr val="E4F0E6"/>
                </a:solidFill>
                <a:latin typeface="Trebuchet MS"/>
                <a:cs typeface="Trebuchet MS"/>
              </a:rPr>
              <a:t>gamma</a:t>
            </a:r>
            <a:r>
              <a:rPr lang="en-US" sz="1600" spc="2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170" dirty="0">
                <a:solidFill>
                  <a:srgbClr val="E4F0E6"/>
                </a:solidFill>
                <a:latin typeface="Trebuchet MS"/>
                <a:cs typeface="Trebuchet MS"/>
              </a:rPr>
              <a:t>*</a:t>
            </a:r>
            <a:r>
              <a:rPr lang="en-US"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50" dirty="0" err="1">
                <a:solidFill>
                  <a:srgbClr val="E4F0E6"/>
                </a:solidFill>
                <a:latin typeface="Trebuchet MS"/>
                <a:cs typeface="Trebuchet MS"/>
              </a:rPr>
              <a:t>futureQ</a:t>
            </a:r>
            <a:endParaRPr lang="en-US" sz="1600" dirty="0">
              <a:latin typeface="Trebuchet MS"/>
              <a:cs typeface="Trebuchet MS"/>
            </a:endParaRPr>
          </a:p>
          <a:p>
            <a:pPr marL="222250">
              <a:spcBef>
                <a:spcPts val="840"/>
              </a:spcBef>
            </a:pPr>
            <a:r>
              <a:rPr lang="en-US" sz="1600" dirty="0">
                <a:solidFill>
                  <a:srgbClr val="E4F0E6"/>
                </a:solidFill>
                <a:latin typeface="Trebuchet MS"/>
                <a:cs typeface="Trebuchet MS"/>
              </a:rPr>
              <a:t>-</a:t>
            </a:r>
            <a:r>
              <a:rPr lang="en-US" sz="1600" spc="1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lang="en-US" sz="1600" spc="-10" dirty="0" err="1">
                <a:solidFill>
                  <a:srgbClr val="E4F0E6"/>
                </a:solidFill>
                <a:latin typeface="Trebuchet MS"/>
                <a:cs typeface="Trebuchet MS"/>
              </a:rPr>
              <a:t>oldQ</a:t>
            </a:r>
            <a:r>
              <a:rPr lang="en-US" sz="1600" spc="-10" dirty="0">
                <a:solidFill>
                  <a:srgbClr val="E4F0E6"/>
                </a:solidFill>
                <a:latin typeface="Trebuchet MS"/>
                <a:cs typeface="Trebuchet MS"/>
              </a:rPr>
              <a:t>);</a:t>
            </a:r>
            <a:endParaRPr lang="en-US" sz="16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endParaRPr sz="13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395200" y="7279865"/>
            <a:ext cx="472440" cy="1733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09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697772"/>
                </a:solidFill>
                <a:latin typeface="Trebuchet MS"/>
                <a:cs typeface="Trebuchet MS"/>
              </a:rPr>
              <a:t>12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1500" y="418466"/>
            <a:ext cx="14408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09</a:t>
            </a:r>
            <a:r>
              <a:rPr sz="1000" spc="1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90" dirty="0">
                <a:solidFill>
                  <a:srgbClr val="697772"/>
                </a:solidFill>
                <a:latin typeface="Trebuchet MS"/>
                <a:cs typeface="Trebuchet MS"/>
              </a:rPr>
              <a:t>ЦИКЛ</a:t>
            </a:r>
            <a:r>
              <a:rPr sz="1000" spc="2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697772"/>
                </a:solidFill>
                <a:latin typeface="Trebuchet MS"/>
                <a:cs typeface="Trebuchet MS"/>
              </a:rPr>
              <a:t>ОБУЧЕНИЯ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5" dirty="0">
                <a:solidFill>
                  <a:srgbClr val="162A28"/>
                </a:solidFill>
              </a:rPr>
              <a:t>Новый</a:t>
            </a:r>
            <a:r>
              <a:rPr spc="160" dirty="0">
                <a:solidFill>
                  <a:srgbClr val="162A28"/>
                </a:solidFill>
              </a:rPr>
              <a:t> </a:t>
            </a:r>
            <a:r>
              <a:rPr spc="325" dirty="0">
                <a:solidFill>
                  <a:srgbClr val="162A28"/>
                </a:solidFill>
              </a:rPr>
              <a:t>эпизод.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385" dirty="0">
                <a:solidFill>
                  <a:srgbClr val="162A28"/>
                </a:solidFill>
              </a:rPr>
              <a:t>Сохранённый</a:t>
            </a:r>
            <a:r>
              <a:rPr spc="165" dirty="0">
                <a:solidFill>
                  <a:srgbClr val="162A28"/>
                </a:solidFill>
              </a:rPr>
              <a:t> </a:t>
            </a:r>
            <a:r>
              <a:rPr spc="305" dirty="0">
                <a:solidFill>
                  <a:srgbClr val="162A28"/>
                </a:solidFill>
              </a:rPr>
              <a:t>опыт.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5937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Положение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40" dirty="0">
                <a:solidFill>
                  <a:srgbClr val="697772"/>
                </a:solidFill>
                <a:latin typeface="Trebuchet MS"/>
                <a:cs typeface="Trebuchet MS"/>
              </a:rPr>
              <a:t>мыши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и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вода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697772"/>
                </a:solidFill>
                <a:latin typeface="Trebuchet MS"/>
                <a:cs typeface="Trebuchet MS"/>
              </a:rPr>
              <a:t>сбрасываются,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40" dirty="0">
                <a:solidFill>
                  <a:srgbClr val="697772"/>
                </a:solidFill>
                <a:latin typeface="Trebuchet MS"/>
                <a:cs typeface="Trebuchet MS"/>
              </a:rPr>
              <a:t>а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Q-таблица</a:t>
            </a:r>
            <a:r>
              <a:rPr sz="14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остаётся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" y="2703829"/>
            <a:ext cx="4445000" cy="193040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700" spc="85" dirty="0">
                <a:solidFill>
                  <a:srgbClr val="162A28"/>
                </a:solidFill>
                <a:latin typeface="Trebuchet MS"/>
                <a:cs typeface="Trebuchet MS"/>
              </a:rPr>
              <a:t>Успех: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0" dirty="0">
                <a:solidFill>
                  <a:srgbClr val="162A28"/>
                </a:solidFill>
                <a:latin typeface="Trebuchet MS"/>
                <a:cs typeface="Trebuchet MS"/>
              </a:rPr>
              <a:t>вся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45" dirty="0">
                <a:solidFill>
                  <a:srgbClr val="162A28"/>
                </a:solidFill>
                <a:latin typeface="Trebuchet MS"/>
                <a:cs typeface="Trebuchet MS"/>
              </a:rPr>
              <a:t>вода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50" dirty="0">
                <a:solidFill>
                  <a:srgbClr val="162A28"/>
                </a:solidFill>
                <a:latin typeface="Trebuchet MS"/>
                <a:cs typeface="Trebuchet MS"/>
              </a:rPr>
              <a:t>сыр.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spc="150" dirty="0">
                <a:solidFill>
                  <a:srgbClr val="162A28"/>
                </a:solidFill>
                <a:latin typeface="Trebuchet MS"/>
                <a:cs typeface="Trebuchet MS"/>
              </a:rPr>
              <a:t>Остановка</a:t>
            </a:r>
            <a:r>
              <a:rPr sz="17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30" dirty="0">
                <a:solidFill>
                  <a:srgbClr val="162A28"/>
                </a:solidFill>
                <a:latin typeface="Trebuchet MS"/>
                <a:cs typeface="Trebuchet MS"/>
              </a:rPr>
              <a:t>попытки:</a:t>
            </a:r>
            <a:r>
              <a:rPr sz="1700" spc="5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35" dirty="0">
                <a:solidFill>
                  <a:srgbClr val="162A28"/>
                </a:solidFill>
                <a:latin typeface="Trebuchet MS"/>
                <a:cs typeface="Trebuchet MS"/>
              </a:rPr>
              <a:t>лимит</a:t>
            </a:r>
            <a:r>
              <a:rPr sz="1700" spc="5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0" dirty="0">
                <a:solidFill>
                  <a:srgbClr val="162A28"/>
                </a:solidFill>
                <a:latin typeface="Trebuchet MS"/>
                <a:cs typeface="Trebuchet MS"/>
              </a:rPr>
              <a:t>шагов.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47100"/>
              </a:lnSpc>
            </a:pPr>
            <a:r>
              <a:rPr sz="1700" spc="120" dirty="0">
                <a:solidFill>
                  <a:srgbClr val="162A28"/>
                </a:solidFill>
                <a:latin typeface="Trebuchet MS"/>
                <a:cs typeface="Trebuchet MS"/>
              </a:rPr>
              <a:t>После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162A28"/>
                </a:solidFill>
                <a:latin typeface="Trebuchet MS"/>
                <a:cs typeface="Trebuchet MS"/>
              </a:rPr>
              <a:t>обучения</a:t>
            </a:r>
            <a:r>
              <a:rPr sz="17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65" dirty="0">
                <a:solidFill>
                  <a:srgbClr val="162A28"/>
                </a:solidFill>
                <a:latin typeface="Trebuchet MS"/>
                <a:cs typeface="Trebuchet MS"/>
              </a:rPr>
              <a:t>маршрут</a:t>
            </a:r>
            <a:r>
              <a:rPr sz="1700" spc="4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0" dirty="0">
                <a:solidFill>
                  <a:srgbClr val="162A28"/>
                </a:solidFill>
                <a:latin typeface="Trebuchet MS"/>
                <a:cs typeface="Trebuchet MS"/>
              </a:rPr>
              <a:t>проверяется </a:t>
            </a:r>
            <a:r>
              <a:rPr sz="1700" spc="155" dirty="0">
                <a:solidFill>
                  <a:srgbClr val="162A28"/>
                </a:solidFill>
                <a:latin typeface="Trebuchet MS"/>
                <a:cs typeface="Trebuchet MS"/>
              </a:rPr>
              <a:t>на</a:t>
            </a:r>
            <a:r>
              <a:rPr sz="1700" spc="3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50" dirty="0">
                <a:solidFill>
                  <a:srgbClr val="162A28"/>
                </a:solidFill>
                <a:latin typeface="Trebuchet MS"/>
                <a:cs typeface="Trebuchet MS"/>
              </a:rPr>
              <a:t>достижение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40" dirty="0">
                <a:solidFill>
                  <a:srgbClr val="162A28"/>
                </a:solidFill>
                <a:latin typeface="Trebuchet MS"/>
                <a:cs typeface="Trebuchet MS"/>
              </a:rPr>
              <a:t>цели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162A28"/>
                </a:solidFill>
                <a:latin typeface="Trebuchet MS"/>
                <a:cs typeface="Trebuchet MS"/>
              </a:rPr>
              <a:t>и</a:t>
            </a:r>
            <a:r>
              <a:rPr sz="17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700" spc="110" dirty="0">
                <a:solidFill>
                  <a:srgbClr val="162A28"/>
                </a:solidFill>
                <a:latin typeface="Trebuchet MS"/>
                <a:cs typeface="Trebuchet MS"/>
              </a:rPr>
              <a:t>зацикливание.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31000" y="2787650"/>
            <a:ext cx="6413500" cy="3683000"/>
          </a:xfrm>
          <a:custGeom>
            <a:avLst/>
            <a:gdLst/>
            <a:ahLst/>
            <a:cxnLst/>
            <a:rect l="l" t="t" r="r" b="b"/>
            <a:pathLst>
              <a:path w="6413500" h="3683000">
                <a:moveTo>
                  <a:pt x="62611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3530600"/>
                </a:lnTo>
                <a:lnTo>
                  <a:pt x="7761" y="3578800"/>
                </a:lnTo>
                <a:lnTo>
                  <a:pt x="29381" y="3620639"/>
                </a:lnTo>
                <a:lnTo>
                  <a:pt x="62360" y="3653618"/>
                </a:lnTo>
                <a:lnTo>
                  <a:pt x="104199" y="3675238"/>
                </a:lnTo>
                <a:lnTo>
                  <a:pt x="152400" y="3683000"/>
                </a:lnTo>
                <a:lnTo>
                  <a:pt x="6261100" y="3683000"/>
                </a:lnTo>
                <a:lnTo>
                  <a:pt x="6309302" y="3675238"/>
                </a:lnTo>
                <a:lnTo>
                  <a:pt x="6351141" y="3653618"/>
                </a:lnTo>
                <a:lnTo>
                  <a:pt x="6384119" y="3620639"/>
                </a:lnTo>
                <a:lnTo>
                  <a:pt x="6405738" y="3578800"/>
                </a:lnTo>
                <a:lnTo>
                  <a:pt x="6413500" y="3530600"/>
                </a:lnTo>
                <a:lnTo>
                  <a:pt x="6413500" y="152400"/>
                </a:lnTo>
                <a:lnTo>
                  <a:pt x="6405738" y="104199"/>
                </a:lnTo>
                <a:lnTo>
                  <a:pt x="6384119" y="62360"/>
                </a:lnTo>
                <a:lnTo>
                  <a:pt x="6351141" y="29381"/>
                </a:lnTo>
                <a:lnTo>
                  <a:pt x="6309302" y="7761"/>
                </a:lnTo>
                <a:lnTo>
                  <a:pt x="6261100" y="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10400" y="3147087"/>
            <a:ext cx="3233420" cy="257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 marR="257810" indent="-210185">
              <a:lnSpc>
                <a:spcPct val="153800"/>
              </a:lnSpc>
            </a:pP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for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(int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85" dirty="0">
                <a:solidFill>
                  <a:srgbClr val="E4F0E6"/>
                </a:solidFill>
                <a:latin typeface="Trebuchet MS"/>
                <a:cs typeface="Trebuchet MS"/>
              </a:rPr>
              <a:t>e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0;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85" dirty="0">
                <a:solidFill>
                  <a:srgbClr val="E4F0E6"/>
                </a:solidFill>
                <a:latin typeface="Trebuchet MS"/>
                <a:cs typeface="Trebuchet MS"/>
              </a:rPr>
              <a:t>e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95" dirty="0">
                <a:solidFill>
                  <a:srgbClr val="E4F0E6"/>
                </a:solidFill>
                <a:latin typeface="Trebuchet MS"/>
                <a:cs typeface="Trebuchet MS"/>
              </a:rPr>
              <a:t>&lt;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E4F0E6"/>
                </a:solidFill>
                <a:latin typeface="Trebuchet MS"/>
                <a:cs typeface="Trebuchet MS"/>
              </a:rPr>
              <a:t>episodes;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229" dirty="0">
                <a:solidFill>
                  <a:srgbClr val="E4F0E6"/>
                </a:solidFill>
                <a:latin typeface="Trebuchet MS"/>
                <a:cs typeface="Trebuchet MS"/>
              </a:rPr>
              <a:t>e++)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{ </a:t>
            </a:r>
            <a:r>
              <a:rPr sz="1600" spc="50" dirty="0">
                <a:solidFill>
                  <a:srgbClr val="E4F0E6"/>
                </a:solidFill>
                <a:latin typeface="Trebuchet MS"/>
                <a:cs typeface="Trebuchet MS"/>
              </a:rPr>
              <a:t>resetEpisode();</a:t>
            </a:r>
            <a:endParaRPr sz="1600" dirty="0">
              <a:latin typeface="Trebuchet MS"/>
              <a:cs typeface="Trebuchet MS"/>
            </a:endParaRPr>
          </a:p>
          <a:p>
            <a:pPr marL="432434" marR="5080" indent="-210185">
              <a:lnSpc>
                <a:spcPct val="153800"/>
              </a:lnSpc>
            </a:pP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for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(int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E4F0E6"/>
                </a:solidFill>
                <a:latin typeface="Trebuchet MS"/>
                <a:cs typeface="Trebuchet MS"/>
              </a:rPr>
              <a:t>s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95" dirty="0">
                <a:solidFill>
                  <a:srgbClr val="E4F0E6"/>
                </a:solidFill>
                <a:latin typeface="Trebuchet MS"/>
                <a:cs typeface="Trebuchet MS"/>
              </a:rPr>
              <a:t>=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0;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E4F0E6"/>
                </a:solidFill>
                <a:latin typeface="Trebuchet MS"/>
                <a:cs typeface="Trebuchet MS"/>
              </a:rPr>
              <a:t>s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95" dirty="0">
                <a:solidFill>
                  <a:srgbClr val="E4F0E6"/>
                </a:solidFill>
                <a:latin typeface="Trebuchet MS"/>
                <a:cs typeface="Trebuchet MS"/>
              </a:rPr>
              <a:t>&lt;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E4F0E6"/>
                </a:solidFill>
                <a:latin typeface="Trebuchet MS"/>
                <a:cs typeface="Trebuchet MS"/>
              </a:rPr>
              <a:t>maxSteps;</a:t>
            </a:r>
            <a:r>
              <a:rPr sz="1600" spc="6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240" dirty="0">
                <a:solidFill>
                  <a:srgbClr val="E4F0E6"/>
                </a:solidFill>
                <a:latin typeface="Trebuchet MS"/>
                <a:cs typeface="Trebuchet MS"/>
              </a:rPr>
              <a:t>s++)</a:t>
            </a:r>
            <a:r>
              <a:rPr sz="1600" spc="6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{ </a:t>
            </a:r>
            <a:r>
              <a:rPr sz="1600" spc="40" dirty="0">
                <a:solidFill>
                  <a:srgbClr val="E4F0E6"/>
                </a:solidFill>
                <a:latin typeface="Trebuchet MS"/>
                <a:cs typeface="Trebuchet MS"/>
              </a:rPr>
              <a:t>trainStep();</a:t>
            </a:r>
            <a:endParaRPr sz="1600" dirty="0">
              <a:latin typeface="Trebuchet MS"/>
              <a:cs typeface="Trebuchet MS"/>
            </a:endParaRPr>
          </a:p>
          <a:p>
            <a:pPr marL="432434">
              <a:lnSpc>
                <a:spcPct val="100000"/>
              </a:lnSpc>
              <a:spcBef>
                <a:spcPts val="840"/>
              </a:spcBef>
            </a:pPr>
            <a:r>
              <a:rPr sz="1600" dirty="0">
                <a:solidFill>
                  <a:srgbClr val="E4F0E6"/>
                </a:solidFill>
                <a:latin typeface="Trebuchet MS"/>
                <a:cs typeface="Trebuchet MS"/>
              </a:rPr>
              <a:t>if</a:t>
            </a:r>
            <a:r>
              <a:rPr sz="1600" spc="15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55" dirty="0">
                <a:solidFill>
                  <a:srgbClr val="E4F0E6"/>
                </a:solidFill>
                <a:latin typeface="Trebuchet MS"/>
                <a:cs typeface="Trebuchet MS"/>
              </a:rPr>
              <a:t>(isTerminal())</a:t>
            </a:r>
            <a:r>
              <a:rPr sz="1600" spc="20" dirty="0">
                <a:solidFill>
                  <a:srgbClr val="E4F0E6"/>
                </a:solidFill>
                <a:latin typeface="Trebuchet MS"/>
                <a:cs typeface="Trebuchet MS"/>
              </a:rPr>
              <a:t> </a:t>
            </a:r>
            <a:r>
              <a:rPr sz="1600" spc="50" dirty="0">
                <a:solidFill>
                  <a:srgbClr val="E4F0E6"/>
                </a:solidFill>
                <a:latin typeface="Trebuchet MS"/>
                <a:cs typeface="Trebuchet MS"/>
              </a:rPr>
              <a:t>break;</a:t>
            </a:r>
            <a:endParaRPr sz="1600" dirty="0">
              <a:latin typeface="Trebuchet MS"/>
              <a:cs typeface="Trebuchet MS"/>
            </a:endParaRPr>
          </a:p>
          <a:p>
            <a:pPr marL="222250">
              <a:lnSpc>
                <a:spcPct val="100000"/>
              </a:lnSpc>
              <a:spcBef>
                <a:spcPts val="840"/>
              </a:spcBef>
            </a:pP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00" spc="300" dirty="0">
                <a:solidFill>
                  <a:srgbClr val="E4F0E6"/>
                </a:solidFill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10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4675" y="414998"/>
            <a:ext cx="18713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697772"/>
                </a:solidFill>
                <a:latin typeface="Trebuchet MS"/>
                <a:cs typeface="Trebuchet MS"/>
              </a:rPr>
              <a:t>10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-195" dirty="0">
                <a:solidFill>
                  <a:srgbClr val="697772"/>
                </a:solidFill>
                <a:latin typeface="Trebuchet MS"/>
                <a:cs typeface="Trebuchet MS"/>
              </a:rPr>
              <a:t>/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697772"/>
                </a:solidFill>
                <a:latin typeface="Trebuchet MS"/>
                <a:cs typeface="Trebuchet MS"/>
              </a:rPr>
              <a:t>ПРОВЕРКА</a:t>
            </a:r>
            <a:r>
              <a:rPr sz="1000" spc="2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697772"/>
                </a:solidFill>
                <a:latin typeface="Trebuchet MS"/>
                <a:cs typeface="Trebuchet MS"/>
              </a:rPr>
              <a:t>РЕЗУЛЬТАТА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30" dirty="0">
                <a:solidFill>
                  <a:srgbClr val="162A28"/>
                </a:solidFill>
              </a:rPr>
              <a:t>Завершить</a:t>
            </a:r>
            <a:r>
              <a:rPr spc="170" dirty="0">
                <a:solidFill>
                  <a:srgbClr val="162A28"/>
                </a:solidFill>
              </a:rPr>
              <a:t> </a:t>
            </a:r>
            <a:r>
              <a:rPr spc="350" dirty="0">
                <a:solidFill>
                  <a:srgbClr val="162A28"/>
                </a:solidFill>
              </a:rPr>
              <a:t>обучение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850" dirty="0">
                <a:solidFill>
                  <a:srgbClr val="162A28"/>
                </a:solidFill>
              </a:rPr>
              <a:t>≠</a:t>
            </a:r>
            <a:r>
              <a:rPr spc="170" dirty="0">
                <a:solidFill>
                  <a:srgbClr val="162A28"/>
                </a:solidFill>
              </a:rPr>
              <a:t> </a:t>
            </a:r>
            <a:r>
              <a:rPr spc="360" dirty="0">
                <a:solidFill>
                  <a:srgbClr val="162A28"/>
                </a:solidFill>
              </a:rPr>
              <a:t>найти</a:t>
            </a:r>
            <a:r>
              <a:rPr spc="175" dirty="0">
                <a:solidFill>
                  <a:srgbClr val="162A28"/>
                </a:solidFill>
              </a:rPr>
              <a:t> </a:t>
            </a:r>
            <a:r>
              <a:rPr spc="305" dirty="0">
                <a:solidFill>
                  <a:srgbClr val="162A28"/>
                </a:solidFill>
              </a:rPr>
              <a:t>путь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1746250"/>
            <a:ext cx="7511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Проверяем</a:t>
            </a:r>
            <a:r>
              <a:rPr sz="14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697772"/>
                </a:solidFill>
                <a:latin typeface="Trebuchet MS"/>
                <a:cs typeface="Trebuchet MS"/>
              </a:rPr>
              <a:t>итоговый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697772"/>
                </a:solidFill>
                <a:latin typeface="Trebuchet MS"/>
                <a:cs typeface="Trebuchet MS"/>
              </a:rPr>
              <a:t>маршрут,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40" dirty="0">
                <a:solidFill>
                  <a:srgbClr val="697772"/>
                </a:solidFill>
                <a:latin typeface="Trebuchet MS"/>
                <a:cs typeface="Trebuchet MS"/>
              </a:rPr>
              <a:t>а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5" dirty="0">
                <a:solidFill>
                  <a:srgbClr val="697772"/>
                </a:solidFill>
                <a:latin typeface="Trebuchet MS"/>
                <a:cs typeface="Trebuchet MS"/>
              </a:rPr>
              <a:t>не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только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количество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697772"/>
                </a:solidFill>
                <a:latin typeface="Trebuchet MS"/>
                <a:cs typeface="Trebuchet MS"/>
              </a:rPr>
              <a:t>выполненных</a:t>
            </a:r>
            <a:r>
              <a:rPr sz="14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697772"/>
                </a:solidFill>
                <a:latin typeface="Trebuchet MS"/>
                <a:cs typeface="Trebuchet MS"/>
              </a:rPr>
              <a:t>эпизодов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8800" y="2825750"/>
            <a:ext cx="6172200" cy="2159000"/>
          </a:xfrm>
          <a:custGeom>
            <a:avLst/>
            <a:gdLst/>
            <a:ahLst/>
            <a:cxnLst/>
            <a:rect l="l" t="t" r="r" b="b"/>
            <a:pathLst>
              <a:path w="6172200" h="2159000">
                <a:moveTo>
                  <a:pt x="60198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2006600"/>
                </a:lnTo>
                <a:lnTo>
                  <a:pt x="7761" y="2054800"/>
                </a:lnTo>
                <a:lnTo>
                  <a:pt x="29381" y="2096639"/>
                </a:lnTo>
                <a:lnTo>
                  <a:pt x="62360" y="2129618"/>
                </a:lnTo>
                <a:lnTo>
                  <a:pt x="104199" y="2151238"/>
                </a:lnTo>
                <a:lnTo>
                  <a:pt x="152400" y="2159000"/>
                </a:lnTo>
                <a:lnTo>
                  <a:pt x="6019800" y="2159000"/>
                </a:lnTo>
                <a:lnTo>
                  <a:pt x="6068000" y="2151238"/>
                </a:lnTo>
                <a:lnTo>
                  <a:pt x="6109839" y="2129618"/>
                </a:lnTo>
                <a:lnTo>
                  <a:pt x="6142818" y="2096639"/>
                </a:lnTo>
                <a:lnTo>
                  <a:pt x="6164438" y="2054800"/>
                </a:lnTo>
                <a:lnTo>
                  <a:pt x="6172200" y="2006600"/>
                </a:lnTo>
                <a:lnTo>
                  <a:pt x="6172200" y="152400"/>
                </a:lnTo>
                <a:lnTo>
                  <a:pt x="6164438" y="104199"/>
                </a:lnTo>
                <a:lnTo>
                  <a:pt x="6142818" y="62360"/>
                </a:lnTo>
                <a:lnTo>
                  <a:pt x="6109839" y="29381"/>
                </a:lnTo>
                <a:lnTo>
                  <a:pt x="6068000" y="7761"/>
                </a:lnTo>
                <a:lnTo>
                  <a:pt x="6019800" y="0"/>
                </a:lnTo>
                <a:close/>
              </a:path>
            </a:pathLst>
          </a:custGeom>
          <a:solidFill>
            <a:srgbClr val="E6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0100" y="3105150"/>
            <a:ext cx="3069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65" dirty="0">
                <a:solidFill>
                  <a:srgbClr val="236B52"/>
                </a:solidFill>
                <a:latin typeface="Trebuchet MS"/>
                <a:cs typeface="Trebuchet MS"/>
              </a:rPr>
              <a:t>Маршрут</a:t>
            </a:r>
            <a:r>
              <a:rPr sz="2400" b="1" spc="135" dirty="0">
                <a:solidFill>
                  <a:srgbClr val="236B52"/>
                </a:solidFill>
                <a:latin typeface="Trebuchet MS"/>
                <a:cs typeface="Trebuchet MS"/>
              </a:rPr>
              <a:t> </a:t>
            </a:r>
            <a:r>
              <a:rPr sz="2400" b="1" spc="270" dirty="0">
                <a:solidFill>
                  <a:srgbClr val="236B52"/>
                </a:solidFill>
                <a:latin typeface="Trebuchet MS"/>
                <a:cs typeface="Trebuchet MS"/>
              </a:rPr>
              <a:t>найден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100" y="3679190"/>
            <a:ext cx="367411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000"/>
              </a:lnSpc>
              <a:spcBef>
                <a:spcPts val="100"/>
              </a:spcBef>
            </a:pPr>
            <a:r>
              <a:rPr sz="1600" spc="125" dirty="0">
                <a:solidFill>
                  <a:srgbClr val="162A28"/>
                </a:solidFill>
                <a:latin typeface="Trebuchet MS"/>
                <a:cs typeface="Trebuchet MS"/>
              </a:rPr>
              <a:t>Вся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35" dirty="0">
                <a:solidFill>
                  <a:srgbClr val="162A28"/>
                </a:solidFill>
                <a:latin typeface="Trebuchet MS"/>
                <a:cs typeface="Trebuchet MS"/>
              </a:rPr>
              <a:t>вода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162A28"/>
                </a:solidFill>
                <a:latin typeface="Trebuchet MS"/>
                <a:cs typeface="Trebuchet MS"/>
              </a:rPr>
              <a:t>собрана,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162A28"/>
                </a:solidFill>
                <a:latin typeface="Trebuchet MS"/>
                <a:cs typeface="Trebuchet MS"/>
              </a:rPr>
              <a:t>сыр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05" dirty="0">
                <a:solidFill>
                  <a:srgbClr val="162A28"/>
                </a:solidFill>
                <a:latin typeface="Trebuchet MS"/>
                <a:cs typeface="Trebuchet MS"/>
              </a:rPr>
              <a:t>достигнут. </a:t>
            </a:r>
            <a:r>
              <a:rPr sz="1600" spc="155" dirty="0">
                <a:solidFill>
                  <a:srgbClr val="162A28"/>
                </a:solidFill>
                <a:latin typeface="Trebuchet MS"/>
                <a:cs typeface="Trebuchet MS"/>
              </a:rPr>
              <a:t>Можно</a:t>
            </a:r>
            <a:r>
              <a:rPr sz="1600" spc="5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40" dirty="0">
                <a:solidFill>
                  <a:srgbClr val="162A28"/>
                </a:solidFill>
                <a:latin typeface="Trebuchet MS"/>
                <a:cs typeface="Trebuchet MS"/>
              </a:rPr>
              <a:t>запустить</a:t>
            </a:r>
            <a:r>
              <a:rPr sz="1600" spc="5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0" dirty="0">
                <a:solidFill>
                  <a:srgbClr val="162A28"/>
                </a:solidFill>
                <a:latin typeface="Trebuchet MS"/>
                <a:cs typeface="Trebuchet MS"/>
              </a:rPr>
              <a:t>демонстрацию.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85000" y="2825750"/>
            <a:ext cx="6172200" cy="2159000"/>
          </a:xfrm>
          <a:custGeom>
            <a:avLst/>
            <a:gdLst/>
            <a:ahLst/>
            <a:cxnLst/>
            <a:rect l="l" t="t" r="r" b="b"/>
            <a:pathLst>
              <a:path w="6172200" h="2159000">
                <a:moveTo>
                  <a:pt x="6019800" y="0"/>
                </a:moveTo>
                <a:lnTo>
                  <a:pt x="152400" y="0"/>
                </a:lnTo>
                <a:lnTo>
                  <a:pt x="104199" y="7761"/>
                </a:lnTo>
                <a:lnTo>
                  <a:pt x="62360" y="29381"/>
                </a:lnTo>
                <a:lnTo>
                  <a:pt x="29381" y="62360"/>
                </a:lnTo>
                <a:lnTo>
                  <a:pt x="7761" y="104199"/>
                </a:lnTo>
                <a:lnTo>
                  <a:pt x="0" y="152400"/>
                </a:lnTo>
                <a:lnTo>
                  <a:pt x="0" y="2006600"/>
                </a:lnTo>
                <a:lnTo>
                  <a:pt x="7761" y="2054800"/>
                </a:lnTo>
                <a:lnTo>
                  <a:pt x="29381" y="2096639"/>
                </a:lnTo>
                <a:lnTo>
                  <a:pt x="62360" y="2129618"/>
                </a:lnTo>
                <a:lnTo>
                  <a:pt x="104199" y="2151238"/>
                </a:lnTo>
                <a:lnTo>
                  <a:pt x="152400" y="2159000"/>
                </a:lnTo>
                <a:lnTo>
                  <a:pt x="6019800" y="2159000"/>
                </a:lnTo>
                <a:lnTo>
                  <a:pt x="6068002" y="2151238"/>
                </a:lnTo>
                <a:lnTo>
                  <a:pt x="6109841" y="2129618"/>
                </a:lnTo>
                <a:lnTo>
                  <a:pt x="6142819" y="2096639"/>
                </a:lnTo>
                <a:lnTo>
                  <a:pt x="6164438" y="2054800"/>
                </a:lnTo>
                <a:lnTo>
                  <a:pt x="6172200" y="2006600"/>
                </a:lnTo>
                <a:lnTo>
                  <a:pt x="6172200" y="152400"/>
                </a:lnTo>
                <a:lnTo>
                  <a:pt x="6164438" y="104199"/>
                </a:lnTo>
                <a:lnTo>
                  <a:pt x="6142819" y="62360"/>
                </a:lnTo>
                <a:lnTo>
                  <a:pt x="6109841" y="29381"/>
                </a:lnTo>
                <a:lnTo>
                  <a:pt x="6068002" y="7761"/>
                </a:lnTo>
                <a:lnTo>
                  <a:pt x="6019800" y="0"/>
                </a:lnTo>
                <a:close/>
              </a:path>
            </a:pathLst>
          </a:custGeom>
          <a:solidFill>
            <a:srgbClr val="E6E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26300" y="3105150"/>
            <a:ext cx="3592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65" dirty="0">
                <a:solidFill>
                  <a:srgbClr val="DD7749"/>
                </a:solidFill>
                <a:latin typeface="Trebuchet MS"/>
                <a:cs typeface="Trebuchet MS"/>
              </a:rPr>
              <a:t>Маршрут</a:t>
            </a:r>
            <a:r>
              <a:rPr sz="2400" b="1" spc="120" dirty="0">
                <a:solidFill>
                  <a:srgbClr val="DD7749"/>
                </a:solidFill>
                <a:latin typeface="Trebuchet MS"/>
                <a:cs typeface="Trebuchet MS"/>
              </a:rPr>
              <a:t> </a:t>
            </a:r>
            <a:r>
              <a:rPr sz="2400" b="1" spc="225" dirty="0">
                <a:solidFill>
                  <a:srgbClr val="DD7749"/>
                </a:solidFill>
                <a:latin typeface="Trebuchet MS"/>
                <a:cs typeface="Trebuchet MS"/>
              </a:rPr>
              <a:t>не</a:t>
            </a:r>
            <a:r>
              <a:rPr sz="2400" b="1" spc="125" dirty="0">
                <a:solidFill>
                  <a:srgbClr val="DD7749"/>
                </a:solidFill>
                <a:latin typeface="Trebuchet MS"/>
                <a:cs typeface="Trebuchet MS"/>
              </a:rPr>
              <a:t> </a:t>
            </a:r>
            <a:r>
              <a:rPr sz="2400" b="1" spc="270" dirty="0">
                <a:solidFill>
                  <a:srgbClr val="DD7749"/>
                </a:solidFill>
                <a:latin typeface="Trebuchet MS"/>
                <a:cs typeface="Trebuchet MS"/>
              </a:rPr>
              <a:t>найден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6300" y="3679190"/>
            <a:ext cx="490601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000"/>
              </a:lnSpc>
              <a:spcBef>
                <a:spcPts val="100"/>
              </a:spcBef>
            </a:pPr>
            <a:r>
              <a:rPr sz="1600" spc="145" dirty="0">
                <a:solidFill>
                  <a:srgbClr val="162A28"/>
                </a:solidFill>
                <a:latin typeface="Trebuchet MS"/>
                <a:cs typeface="Trebuchet MS"/>
              </a:rPr>
              <a:t>Возможна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40" dirty="0">
                <a:solidFill>
                  <a:srgbClr val="162A28"/>
                </a:solidFill>
                <a:latin typeface="Trebuchet MS"/>
                <a:cs typeface="Trebuchet MS"/>
              </a:rPr>
              <a:t>нехватка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25" dirty="0">
                <a:solidFill>
                  <a:srgbClr val="162A28"/>
                </a:solidFill>
                <a:latin typeface="Trebuchet MS"/>
                <a:cs typeface="Trebuchet MS"/>
              </a:rPr>
              <a:t>эпизодов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или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05" dirty="0">
                <a:solidFill>
                  <a:srgbClr val="162A28"/>
                </a:solidFill>
                <a:latin typeface="Trebuchet MS"/>
                <a:cs typeface="Trebuchet MS"/>
              </a:rPr>
              <a:t>шагов. </a:t>
            </a:r>
            <a:r>
              <a:rPr sz="1600" spc="160" dirty="0">
                <a:solidFill>
                  <a:srgbClr val="162A28"/>
                </a:solidFill>
                <a:latin typeface="Trebuchet MS"/>
                <a:cs typeface="Trebuchet MS"/>
              </a:rPr>
              <a:t>Нужно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162A28"/>
                </a:solidFill>
                <a:latin typeface="Trebuchet MS"/>
                <a:cs typeface="Trebuchet MS"/>
              </a:rPr>
              <a:t>продолжить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162A28"/>
                </a:solidFill>
                <a:latin typeface="Trebuchet MS"/>
                <a:cs typeface="Trebuchet MS"/>
              </a:rPr>
              <a:t>или</a:t>
            </a:r>
            <a:r>
              <a:rPr sz="1600" spc="40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140" dirty="0">
                <a:solidFill>
                  <a:srgbClr val="162A28"/>
                </a:solidFill>
                <a:latin typeface="Trebuchet MS"/>
                <a:cs typeface="Trebuchet MS"/>
              </a:rPr>
              <a:t>настроить</a:t>
            </a:r>
            <a:r>
              <a:rPr sz="1600" spc="35" dirty="0">
                <a:solidFill>
                  <a:srgbClr val="162A28"/>
                </a:solidFill>
                <a:latin typeface="Trebuchet MS"/>
                <a:cs typeface="Trebuchet MS"/>
              </a:rPr>
              <a:t> </a:t>
            </a:r>
            <a:r>
              <a:rPr sz="1600" spc="70" dirty="0">
                <a:solidFill>
                  <a:srgbClr val="162A28"/>
                </a:solidFill>
                <a:latin typeface="Trebuchet MS"/>
                <a:cs typeface="Trebuchet MS"/>
              </a:rPr>
              <a:t>обучение.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500" y="5368290"/>
            <a:ext cx="8336915" cy="76200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145" dirty="0">
                <a:solidFill>
                  <a:srgbClr val="697772"/>
                </a:solidFill>
                <a:latin typeface="Trebuchet MS"/>
                <a:cs typeface="Trebuchet MS"/>
              </a:rPr>
              <a:t>Отдельный</a:t>
            </a:r>
            <a:r>
              <a:rPr sz="1600" spc="3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697772"/>
                </a:solidFill>
                <a:latin typeface="Trebuchet MS"/>
                <a:cs typeface="Trebuchet MS"/>
              </a:rPr>
              <a:t>кратчайший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безопасный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60" dirty="0">
                <a:solidFill>
                  <a:srgbClr val="697772"/>
                </a:solidFill>
                <a:latin typeface="Trebuchet MS"/>
                <a:cs typeface="Trebuchet MS"/>
              </a:rPr>
              <a:t>путь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не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40" dirty="0">
                <a:solidFill>
                  <a:srgbClr val="697772"/>
                </a:solidFill>
                <a:latin typeface="Trebuchet MS"/>
                <a:cs typeface="Trebuchet MS"/>
              </a:rPr>
              <a:t>требует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10" dirty="0">
                <a:solidFill>
                  <a:srgbClr val="697772"/>
                </a:solidFill>
                <a:latin typeface="Trebuchet MS"/>
                <a:cs typeface="Trebuchet MS"/>
              </a:rPr>
              <a:t>сбора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80" dirty="0">
                <a:solidFill>
                  <a:srgbClr val="697772"/>
                </a:solidFill>
                <a:latin typeface="Trebuchet MS"/>
                <a:cs typeface="Trebuchet MS"/>
              </a:rPr>
              <a:t>воды.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spc="130" dirty="0">
                <a:solidFill>
                  <a:srgbClr val="697772"/>
                </a:solidFill>
                <a:latin typeface="Trebuchet MS"/>
                <a:cs typeface="Trebuchet MS"/>
              </a:rPr>
              <a:t>Поэтому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его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отличие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55" dirty="0">
                <a:solidFill>
                  <a:srgbClr val="697772"/>
                </a:solidFill>
                <a:latin typeface="Trebuchet MS"/>
                <a:cs typeface="Trebuchet MS"/>
              </a:rPr>
              <a:t>от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697772"/>
                </a:solidFill>
                <a:latin typeface="Trebuchet MS"/>
                <a:cs typeface="Trebuchet MS"/>
              </a:rPr>
              <a:t>маршрута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60" dirty="0">
                <a:solidFill>
                  <a:srgbClr val="697772"/>
                </a:solidFill>
                <a:latin typeface="Trebuchet MS"/>
                <a:cs typeface="Trebuchet MS"/>
              </a:rPr>
              <a:t>мыши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14" dirty="0">
                <a:solidFill>
                  <a:srgbClr val="697772"/>
                </a:solidFill>
                <a:latin typeface="Trebuchet MS"/>
                <a:cs typeface="Trebuchet MS"/>
              </a:rPr>
              <a:t>само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35" dirty="0">
                <a:solidFill>
                  <a:srgbClr val="697772"/>
                </a:solidFill>
                <a:latin typeface="Trebuchet MS"/>
                <a:cs typeface="Trebuchet MS"/>
              </a:rPr>
              <a:t>по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90" dirty="0">
                <a:solidFill>
                  <a:srgbClr val="697772"/>
                </a:solidFill>
                <a:latin typeface="Trebuchet MS"/>
                <a:cs typeface="Trebuchet MS"/>
              </a:rPr>
              <a:t>себе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не</a:t>
            </a:r>
            <a:r>
              <a:rPr sz="1600" spc="40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120" dirty="0">
                <a:solidFill>
                  <a:srgbClr val="697772"/>
                </a:solidFill>
                <a:latin typeface="Trebuchet MS"/>
                <a:cs typeface="Trebuchet MS"/>
              </a:rPr>
              <a:t>является</a:t>
            </a:r>
            <a:r>
              <a:rPr sz="1600" spc="35" dirty="0">
                <a:solidFill>
                  <a:srgbClr val="697772"/>
                </a:solidFill>
                <a:latin typeface="Trebuchet MS"/>
                <a:cs typeface="Trebuchet MS"/>
              </a:rPr>
              <a:t> </a:t>
            </a:r>
            <a:r>
              <a:rPr sz="1600" spc="95" dirty="0">
                <a:solidFill>
                  <a:srgbClr val="697772"/>
                </a:solidFill>
                <a:latin typeface="Trebuchet MS"/>
                <a:cs typeface="Trebuchet MS"/>
              </a:rPr>
              <a:t>ошибкой.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4D8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11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716000" cy="7715250"/>
          </a:xfrm>
          <a:custGeom>
            <a:avLst/>
            <a:gdLst/>
            <a:ahLst/>
            <a:cxnLst/>
            <a:rect l="l" t="t" r="r" b="b"/>
            <a:pathLst>
              <a:path w="13716000" h="7715250">
                <a:moveTo>
                  <a:pt x="0" y="7715250"/>
                </a:moveTo>
                <a:lnTo>
                  <a:pt x="13716000" y="7715250"/>
                </a:lnTo>
                <a:lnTo>
                  <a:pt x="13716000" y="0"/>
                </a:lnTo>
                <a:lnTo>
                  <a:pt x="0" y="0"/>
                </a:lnTo>
                <a:lnTo>
                  <a:pt x="0" y="7715250"/>
                </a:lnTo>
                <a:close/>
              </a:path>
            </a:pathLst>
          </a:custGeom>
          <a:solidFill>
            <a:srgbClr val="162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8800" y="429223"/>
            <a:ext cx="47053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50" dirty="0">
                <a:solidFill>
                  <a:srgbClr val="9CB6AA"/>
                </a:solidFill>
                <a:latin typeface="Trebuchet MS"/>
                <a:cs typeface="Trebuchet MS"/>
              </a:rPr>
              <a:t>ИТОГИ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От</a:t>
            </a:r>
            <a:r>
              <a:rPr spc="160" dirty="0"/>
              <a:t> </a:t>
            </a:r>
            <a:r>
              <a:rPr spc="345" dirty="0"/>
              <a:t>действий</a:t>
            </a:r>
            <a:r>
              <a:rPr spc="165" dirty="0"/>
              <a:t> </a:t>
            </a:r>
            <a:r>
              <a:rPr spc="900" dirty="0"/>
              <a:t>—</a:t>
            </a:r>
            <a:r>
              <a:rPr spc="160" dirty="0"/>
              <a:t> </a:t>
            </a:r>
            <a:r>
              <a:rPr spc="440" dirty="0"/>
              <a:t>к</a:t>
            </a:r>
            <a:r>
              <a:rPr spc="165" dirty="0"/>
              <a:t> </a:t>
            </a:r>
            <a:r>
              <a:rPr spc="315" dirty="0"/>
              <a:t>стратегии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500" y="1746250"/>
            <a:ext cx="36055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30" dirty="0">
                <a:solidFill>
                  <a:srgbClr val="BFCFC6"/>
                </a:solidFill>
                <a:latin typeface="Trebuchet MS"/>
                <a:cs typeface="Trebuchet MS"/>
              </a:rPr>
              <a:t>Что</a:t>
            </a:r>
            <a:r>
              <a:rPr sz="1400" spc="4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25" dirty="0">
                <a:solidFill>
                  <a:srgbClr val="BFCFC6"/>
                </a:solidFill>
                <a:latin typeface="Trebuchet MS"/>
                <a:cs typeface="Trebuchet MS"/>
              </a:rPr>
              <a:t>показывает</a:t>
            </a:r>
            <a:r>
              <a:rPr sz="1400" spc="4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14" dirty="0">
                <a:solidFill>
                  <a:srgbClr val="BFCFC6"/>
                </a:solidFill>
                <a:latin typeface="Trebuchet MS"/>
                <a:cs typeface="Trebuchet MS"/>
              </a:rPr>
              <a:t>лабораторная</a:t>
            </a:r>
            <a:r>
              <a:rPr sz="1400" spc="4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BFCFC6"/>
                </a:solidFill>
                <a:latin typeface="Trebuchet MS"/>
                <a:cs typeface="Trebuchet MS"/>
              </a:rPr>
              <a:t>работа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500" y="2644214"/>
            <a:ext cx="6235065" cy="281559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901065" indent="-888365">
              <a:lnSpc>
                <a:spcPct val="100000"/>
              </a:lnSpc>
              <a:spcBef>
                <a:spcPts val="1130"/>
              </a:spcBef>
              <a:buClr>
                <a:srgbClr val="8CC4A3"/>
              </a:buClr>
              <a:buSzPct val="108695"/>
              <a:buAutoNum type="arabicPlain"/>
              <a:tabLst>
                <a:tab pos="901065" algn="l"/>
              </a:tabLst>
            </a:pPr>
            <a:r>
              <a:rPr sz="2300" b="1" spc="310" dirty="0">
                <a:solidFill>
                  <a:srgbClr val="F4F2EB"/>
                </a:solidFill>
                <a:latin typeface="Trebuchet MS"/>
                <a:cs typeface="Trebuchet MS"/>
              </a:rPr>
              <a:t>Модель</a:t>
            </a:r>
            <a:endParaRPr sz="2300">
              <a:latin typeface="Trebuchet MS"/>
              <a:cs typeface="Trebuchet MS"/>
            </a:endParaRPr>
          </a:p>
          <a:p>
            <a:pPr marL="901700">
              <a:lnSpc>
                <a:spcPct val="100000"/>
              </a:lnSpc>
              <a:spcBef>
                <a:spcPts val="700"/>
              </a:spcBef>
            </a:pPr>
            <a:r>
              <a:rPr sz="1700" spc="110" dirty="0">
                <a:solidFill>
                  <a:srgbClr val="BFCFC6"/>
                </a:solidFill>
                <a:latin typeface="Trebuchet MS"/>
                <a:cs typeface="Trebuchet MS"/>
              </a:rPr>
              <a:t>Клетки,</a:t>
            </a:r>
            <a:r>
              <a:rPr sz="1700" spc="4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00" dirty="0">
                <a:solidFill>
                  <a:srgbClr val="BFCFC6"/>
                </a:solidFill>
                <a:latin typeface="Trebuchet MS"/>
                <a:cs typeface="Trebuchet MS"/>
              </a:rPr>
              <a:t>состояния,</a:t>
            </a:r>
            <a:r>
              <a:rPr sz="1700" spc="4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35" dirty="0">
                <a:solidFill>
                  <a:srgbClr val="BFCFC6"/>
                </a:solidFill>
                <a:latin typeface="Trebuchet MS"/>
                <a:cs typeface="Trebuchet MS"/>
              </a:rPr>
              <a:t>действия</a:t>
            </a:r>
            <a:r>
              <a:rPr sz="1700" spc="4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BFCFC6"/>
                </a:solidFill>
                <a:latin typeface="Trebuchet MS"/>
                <a:cs typeface="Trebuchet MS"/>
              </a:rPr>
              <a:t>и</a:t>
            </a:r>
            <a:r>
              <a:rPr sz="1700" spc="4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BFCFC6"/>
                </a:solidFill>
                <a:latin typeface="Trebuchet MS"/>
                <a:cs typeface="Trebuchet MS"/>
              </a:rPr>
              <a:t>подкрепления.</a:t>
            </a:r>
            <a:endParaRPr sz="1700">
              <a:latin typeface="Trebuchet MS"/>
              <a:cs typeface="Trebuchet MS"/>
            </a:endParaRPr>
          </a:p>
          <a:p>
            <a:pPr marL="901065" indent="-888365">
              <a:lnSpc>
                <a:spcPct val="100000"/>
              </a:lnSpc>
              <a:spcBef>
                <a:spcPts val="1860"/>
              </a:spcBef>
              <a:buClr>
                <a:srgbClr val="8CC4A3"/>
              </a:buClr>
              <a:buSzPct val="108695"/>
              <a:buAutoNum type="arabicPlain" startAt="2"/>
              <a:tabLst>
                <a:tab pos="901065" algn="l"/>
              </a:tabLst>
            </a:pPr>
            <a:r>
              <a:rPr sz="2300" b="1" spc="235" dirty="0">
                <a:solidFill>
                  <a:srgbClr val="F4F2EB"/>
                </a:solidFill>
                <a:latin typeface="Trebuchet MS"/>
                <a:cs typeface="Trebuchet MS"/>
              </a:rPr>
              <a:t>Обучение</a:t>
            </a:r>
            <a:endParaRPr sz="2300">
              <a:latin typeface="Trebuchet MS"/>
              <a:cs typeface="Trebuchet MS"/>
            </a:endParaRPr>
          </a:p>
          <a:p>
            <a:pPr marL="901700">
              <a:lnSpc>
                <a:spcPct val="100000"/>
              </a:lnSpc>
              <a:spcBef>
                <a:spcPts val="700"/>
              </a:spcBef>
            </a:pPr>
            <a:r>
              <a:rPr sz="1700" spc="140" dirty="0">
                <a:solidFill>
                  <a:srgbClr val="BFCFC6"/>
                </a:solidFill>
                <a:latin typeface="Trebuchet MS"/>
                <a:cs typeface="Trebuchet MS"/>
              </a:rPr>
              <a:t>Накопление</a:t>
            </a:r>
            <a:r>
              <a:rPr sz="1700" spc="3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45" dirty="0">
                <a:solidFill>
                  <a:srgbClr val="BFCFC6"/>
                </a:solidFill>
                <a:latin typeface="Trebuchet MS"/>
                <a:cs typeface="Trebuchet MS"/>
              </a:rPr>
              <a:t>оценок</a:t>
            </a:r>
            <a:r>
              <a:rPr sz="1700" spc="3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20" dirty="0">
                <a:solidFill>
                  <a:srgbClr val="BFCFC6"/>
                </a:solidFill>
                <a:latin typeface="Trebuchet MS"/>
                <a:cs typeface="Trebuchet MS"/>
              </a:rPr>
              <a:t>в</a:t>
            </a:r>
            <a:r>
              <a:rPr sz="1700" spc="3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BFCFC6"/>
                </a:solidFill>
                <a:latin typeface="Trebuchet MS"/>
                <a:cs typeface="Trebuchet MS"/>
              </a:rPr>
              <a:t>Q-</a:t>
            </a:r>
            <a:r>
              <a:rPr sz="1700" spc="100" dirty="0">
                <a:solidFill>
                  <a:srgbClr val="BFCFC6"/>
                </a:solidFill>
                <a:latin typeface="Trebuchet MS"/>
                <a:cs typeface="Trebuchet MS"/>
              </a:rPr>
              <a:t>таблице.</a:t>
            </a:r>
            <a:endParaRPr sz="1700">
              <a:latin typeface="Trebuchet MS"/>
              <a:cs typeface="Trebuchet MS"/>
            </a:endParaRPr>
          </a:p>
          <a:p>
            <a:pPr marL="901065" indent="-888365">
              <a:lnSpc>
                <a:spcPct val="100000"/>
              </a:lnSpc>
              <a:spcBef>
                <a:spcPts val="1860"/>
              </a:spcBef>
              <a:buClr>
                <a:srgbClr val="8CC4A3"/>
              </a:buClr>
              <a:buSzPct val="108695"/>
              <a:buAutoNum type="arabicPlain" startAt="3"/>
              <a:tabLst>
                <a:tab pos="901065" algn="l"/>
              </a:tabLst>
            </a:pPr>
            <a:r>
              <a:rPr sz="2300" b="1" spc="280" dirty="0">
                <a:solidFill>
                  <a:srgbClr val="F4F2EB"/>
                </a:solidFill>
                <a:latin typeface="Trebuchet MS"/>
                <a:cs typeface="Trebuchet MS"/>
              </a:rPr>
              <a:t>Проверка</a:t>
            </a:r>
            <a:endParaRPr sz="2300">
              <a:latin typeface="Trebuchet MS"/>
              <a:cs typeface="Trebuchet MS"/>
            </a:endParaRPr>
          </a:p>
          <a:p>
            <a:pPr marL="901700">
              <a:lnSpc>
                <a:spcPct val="100000"/>
              </a:lnSpc>
              <a:spcBef>
                <a:spcPts val="700"/>
              </a:spcBef>
            </a:pPr>
            <a:r>
              <a:rPr sz="1700" spc="120" dirty="0">
                <a:solidFill>
                  <a:srgbClr val="BFCFC6"/>
                </a:solidFill>
                <a:latin typeface="Trebuchet MS"/>
                <a:cs typeface="Trebuchet MS"/>
              </a:rPr>
              <a:t>Извлечение</a:t>
            </a:r>
            <a:r>
              <a:rPr sz="1700" spc="45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25" dirty="0">
                <a:solidFill>
                  <a:srgbClr val="BFCFC6"/>
                </a:solidFill>
                <a:latin typeface="Trebuchet MS"/>
                <a:cs typeface="Trebuchet MS"/>
              </a:rPr>
              <a:t>и</a:t>
            </a:r>
            <a:r>
              <a:rPr sz="1700" spc="5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45" dirty="0">
                <a:solidFill>
                  <a:srgbClr val="BFCFC6"/>
                </a:solidFill>
                <a:latin typeface="Trebuchet MS"/>
                <a:cs typeface="Trebuchet MS"/>
              </a:rPr>
              <a:t>демонстрация</a:t>
            </a:r>
            <a:r>
              <a:rPr sz="1700" spc="5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45" dirty="0">
                <a:solidFill>
                  <a:srgbClr val="BFCFC6"/>
                </a:solidFill>
                <a:latin typeface="Trebuchet MS"/>
                <a:cs typeface="Trebuchet MS"/>
              </a:rPr>
              <a:t>успешного</a:t>
            </a:r>
            <a:r>
              <a:rPr sz="1700" spc="50" dirty="0">
                <a:solidFill>
                  <a:srgbClr val="BFCFC6"/>
                </a:solidFill>
                <a:latin typeface="Trebuchet MS"/>
                <a:cs typeface="Trebuchet MS"/>
              </a:rPr>
              <a:t> </a:t>
            </a:r>
            <a:r>
              <a:rPr sz="1700" spc="105" dirty="0">
                <a:solidFill>
                  <a:srgbClr val="BFCFC6"/>
                </a:solidFill>
                <a:latin typeface="Trebuchet MS"/>
                <a:cs typeface="Trebuchet MS"/>
              </a:rPr>
              <a:t>пути.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8800" y="5924550"/>
            <a:ext cx="12598400" cy="736600"/>
          </a:xfrm>
          <a:custGeom>
            <a:avLst/>
            <a:gdLst/>
            <a:ahLst/>
            <a:cxnLst/>
            <a:rect l="l" t="t" r="r" b="b"/>
            <a:pathLst>
              <a:path w="12598400" h="736600">
                <a:moveTo>
                  <a:pt x="124714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609600"/>
                </a:lnTo>
                <a:lnTo>
                  <a:pt x="9971" y="659061"/>
                </a:lnTo>
                <a:lnTo>
                  <a:pt x="37172" y="699427"/>
                </a:lnTo>
                <a:lnTo>
                  <a:pt x="77538" y="726628"/>
                </a:lnTo>
                <a:lnTo>
                  <a:pt x="127000" y="736600"/>
                </a:lnTo>
                <a:lnTo>
                  <a:pt x="12471400" y="736600"/>
                </a:lnTo>
                <a:lnTo>
                  <a:pt x="12520861" y="726628"/>
                </a:lnTo>
                <a:lnTo>
                  <a:pt x="12561227" y="699427"/>
                </a:lnTo>
                <a:lnTo>
                  <a:pt x="12588428" y="659061"/>
                </a:lnTo>
                <a:lnTo>
                  <a:pt x="12598400" y="609600"/>
                </a:lnTo>
                <a:lnTo>
                  <a:pt x="12598400" y="127000"/>
                </a:lnTo>
                <a:lnTo>
                  <a:pt x="12588428" y="77538"/>
                </a:lnTo>
                <a:lnTo>
                  <a:pt x="12561227" y="37172"/>
                </a:lnTo>
                <a:lnTo>
                  <a:pt x="12520861" y="9971"/>
                </a:lnTo>
                <a:lnTo>
                  <a:pt x="12471400" y="0"/>
                </a:lnTo>
                <a:close/>
              </a:path>
            </a:pathLst>
          </a:custGeom>
          <a:solidFill>
            <a:srgbClr val="236B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0100" y="6127750"/>
            <a:ext cx="914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4F2EB"/>
                </a:solidFill>
                <a:latin typeface="Trebuchet MS"/>
                <a:cs typeface="Trebuchet MS"/>
              </a:rPr>
              <a:t>Результат</a:t>
            </a:r>
            <a:r>
              <a:rPr sz="1800" spc="3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F4F2EB"/>
                </a:solidFill>
                <a:latin typeface="Trebuchet MS"/>
                <a:cs typeface="Trebuchet MS"/>
              </a:rPr>
              <a:t>зависит</a:t>
            </a:r>
            <a:r>
              <a:rPr sz="1800" spc="3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85" dirty="0">
                <a:solidFill>
                  <a:srgbClr val="F4F2EB"/>
                </a:solidFill>
                <a:latin typeface="Trebuchet MS"/>
                <a:cs typeface="Trebuchet MS"/>
              </a:rPr>
              <a:t>от</a:t>
            </a:r>
            <a:r>
              <a:rPr sz="1800" spc="4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F4F2EB"/>
                </a:solidFill>
                <a:latin typeface="Trebuchet MS"/>
                <a:cs typeface="Trebuchet MS"/>
              </a:rPr>
              <a:t>наград,</a:t>
            </a:r>
            <a:r>
              <a:rPr sz="1800" spc="3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F4F2EB"/>
                </a:solidFill>
                <a:latin typeface="Trebuchet MS"/>
                <a:cs typeface="Trebuchet MS"/>
              </a:rPr>
              <a:t>описания</a:t>
            </a:r>
            <a:r>
              <a:rPr sz="1800" spc="3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F4F2EB"/>
                </a:solidFill>
                <a:latin typeface="Trebuchet MS"/>
                <a:cs typeface="Trebuchet MS"/>
              </a:rPr>
              <a:t>состояния</a:t>
            </a:r>
            <a:r>
              <a:rPr sz="1800" spc="4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F4F2EB"/>
                </a:solidFill>
                <a:latin typeface="Trebuchet MS"/>
                <a:cs typeface="Trebuchet MS"/>
              </a:rPr>
              <a:t>и</a:t>
            </a:r>
            <a:r>
              <a:rPr sz="1800" spc="35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F4F2EB"/>
                </a:solidFill>
                <a:latin typeface="Trebuchet MS"/>
                <a:cs typeface="Trebuchet MS"/>
              </a:rPr>
              <a:t>параметров</a:t>
            </a:r>
            <a:r>
              <a:rPr sz="1800" spc="40" dirty="0">
                <a:solidFill>
                  <a:srgbClr val="F4F2EB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4F2EB"/>
                </a:solidFill>
                <a:latin typeface="Trebuchet MS"/>
                <a:cs typeface="Trebuchet MS"/>
              </a:rPr>
              <a:t>обучения.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8800" y="7143750"/>
            <a:ext cx="12598400" cy="12700"/>
          </a:xfrm>
          <a:custGeom>
            <a:avLst/>
            <a:gdLst/>
            <a:ahLst/>
            <a:cxnLst/>
            <a:rect l="l" t="t" r="r" b="b"/>
            <a:pathLst>
              <a:path w="12598400" h="12700">
                <a:moveTo>
                  <a:pt x="0" y="12700"/>
                </a:moveTo>
                <a:lnTo>
                  <a:pt x="12598400" y="12700"/>
                </a:lnTo>
                <a:lnTo>
                  <a:pt x="12598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3B5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46100" y="7291654"/>
            <a:ext cx="2336800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75" dirty="0"/>
              <a:t>ОБУЧЕНИЕ</a:t>
            </a:r>
            <a:r>
              <a:rPr dirty="0"/>
              <a:t> </a:t>
            </a:r>
            <a:r>
              <a:rPr spc="95" dirty="0"/>
              <a:t>С</a:t>
            </a:r>
            <a:r>
              <a:rPr dirty="0"/>
              <a:t> </a:t>
            </a:r>
            <a:r>
              <a:rPr spc="65" dirty="0"/>
              <a:t>ПОДКРЕПЛЕНИЕМ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110" dirty="0"/>
              <a:t>12</a:t>
            </a:fld>
            <a:r>
              <a:rPr spc="15" dirty="0"/>
              <a:t> </a:t>
            </a:r>
            <a:r>
              <a:rPr spc="-195" dirty="0"/>
              <a:t>/</a:t>
            </a:r>
            <a:r>
              <a:rPr spc="20" dirty="0"/>
              <a:t> </a:t>
            </a:r>
            <a:r>
              <a:rPr spc="8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803</Words>
  <Application>Microsoft Office PowerPoint</Application>
  <PresentationFormat>Произвольный</PresentationFormat>
  <Paragraphs>177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Calibri</vt:lpstr>
      <vt:lpstr>Times New Roman</vt:lpstr>
      <vt:lpstr>Trebuchet MS</vt:lpstr>
      <vt:lpstr>Office Theme</vt:lpstr>
      <vt:lpstr>Мышь в лабиринте</vt:lpstr>
      <vt:lpstr>Презентация PowerPoint</vt:lpstr>
      <vt:lpstr>Пять шагов до работающей модели</vt:lpstr>
      <vt:lpstr>Лабиринт хранится как сетка</vt:lpstr>
      <vt:lpstr>Координат недостаточно</vt:lpstr>
      <vt:lpstr>Каждый шаг — в соседнюю клетку</vt:lpstr>
      <vt:lpstr>Презентация PowerPoint</vt:lpstr>
      <vt:lpstr>Презентация PowerPoint</vt:lpstr>
      <vt:lpstr>Q-таблица запоминает оценки действий</vt:lpstr>
      <vt:lpstr>Новый эпизод. Сохранённый опыт.</vt:lpstr>
      <vt:lpstr>Завершить обучение ≠ найти путь</vt:lpstr>
      <vt:lpstr>От действий — к стратегии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Мышь в лабиринте — от исследования к маршруту</dc:title>
  <dc:subject>unspecified</dc:subject>
  <dc:creator>anonymous</dc:creator>
  <cp:lastModifiedBy>WF4973</cp:lastModifiedBy>
  <cp:revision>1</cp:revision>
  <dcterms:created xsi:type="dcterms:W3CDTF">2026-10-20T13:06:43Z</dcterms:created>
  <dcterms:modified xsi:type="dcterms:W3CDTF">2026-10-20T13:15:39Z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2026-10-20T00:00:00Z</vt:filetime>
  </property>
  <property fmtid="{D5CDD505-2E9C-101B-9397-08002B2CF9AE}" pid="4" name="Creator">
    <vt:lpwstr>ReportLab PDF Library - www.reportlab.com</vt:lpwstr>
  </property>
  <property fmtid="{D5CDD505-2E9C-101B-9397-08002B2CF9AE}" pid="5" name="LastSaved">
    <vt:filetime>2026-10-20T00:00:00Z</vt:filetime>
  </property>
  <property fmtid="{D5CDD505-2E9C-101B-9397-08002B2CF9AE}" pid="6" name="Producer">
    <vt:lpwstr>ReportLab PDF Library - www.reportlab.com</vt:lpwstr>
  </property>
</Properties>
</file>